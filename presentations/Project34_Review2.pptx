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ee91419-bc13-764a-991a-c9c158de6690}">
          <p14:sldIdLst>
            <p14:sldId id="256"/>
          </p14:sldIdLst>
        </p14:section>
        <p14:section name="Progress" id="{4977d860-0003-4082-cedb-f0bab5f51608}">
          <p14:sldIdLst>
            <p14:sldId id="257"/>
          </p14:sldIdLst>
        </p14:section>
        <p14:section name="Database design" id="{9b0f180a-a8ac-b9a9-beba-2601525536c1}">
          <p14:sldIdLst>
            <p14:sldId id="258"/>
            <p14:sldId id="259"/>
            <p14:sldId id="260"/>
            <p14:sldId id="261"/>
          </p14:sldIdLst>
        </p14:section>
        <p14:section name="Implementation" id="{09bf10b5-d75a-ebb3-f0d8-4338403f9c8b}">
          <p14:sldIdLst>
            <p14:sldId id="262"/>
            <p14:sldId id="263"/>
            <p14:sldId id="264"/>
            <p14:sldId id="265"/>
            <p14:sldId id="266"/>
          </p14:sldIdLst>
        </p14:section>
        <p14:section name="Prototype" id="{ca29816d-53c2-c70f-7508-6d78f1c81109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Next" id="{f2689fac-8cbe-f364-4386-370332119a3f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2: normalized design, DDL, sample data and queries, plus a working prototype with Learner and Instructor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was design. Review 2 is the working database plus two of the three user modes. Admin mode comes in Review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had 8 tables. To reach 3NF and cover the full brief, the design now has 13 tables in four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in plain words, with a concrete example from this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determinant is a candidate key, so each table meets 3NF (and BCNF).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concise dictionary of the columns that carry business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live in the database, so no application bug can break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Transactions use START TRANSACTION, COMMIT and ROLLBACK with error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 data uses realistic names, courses and quizzes so every report returns meaningful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 1 is the learner progress report. Query 2 is completion rate per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Certificate eligibility uses nested subqueries. The view packages it for reuse.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 and Instructor modes are working now. Admin mode is added in Review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learner sees active and completed courses with live progress from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Enrolled button reflects the unique enrolment rule. A second enrolment is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certificate is only created after completion rules are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mode opens with a profile and password check, then shows that instructor's own courses.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create, edit and delete for lessons and quiz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is the learner progress query from the SQL slides, shown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for Review 2 is done. Review 3 adds admin mode and the final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rgbClr val="E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REVIEW - 2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457200" y="8229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Project 34: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Online Course Database Management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 Joy Peswani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25WU0102110</a:t>
            </a:r>
            <a:endParaRPr lang="en-US" sz="1400" dirty="0"/>
          </a:p>
        </p:txBody>
      </p:sp>
      <p:sp>
        <p:nvSpPr>
          <p:cNvPr id="5" name="motif circle 1"/>
          <p:cNvSpPr/>
          <p:nvPr/>
        </p:nvSpPr>
        <p:spPr>
          <a:xfrm>
            <a:off x="4754880" y="4069080"/>
            <a:ext cx="731520" cy="73152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otif circle 2"/>
          <p:cNvSpPr/>
          <p:nvPr/>
        </p:nvSpPr>
        <p:spPr>
          <a:xfrm>
            <a:off x="5376672" y="4069080"/>
            <a:ext cx="731520" cy="73152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motif circle 3"/>
          <p:cNvSpPr/>
          <p:nvPr/>
        </p:nvSpPr>
        <p:spPr>
          <a:xfrm>
            <a:off x="5998464" y="4069080"/>
            <a:ext cx="731520" cy="73152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nstructor dashboard preview" descr="Instructor dashboard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3040"/>
            <a:ext cx="2468880" cy="214573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Where we are</a:t>
            </a:r>
            <a:endParaRPr lang="en-US" sz="3000" dirty="0"/>
          </a:p>
        </p:txBody>
      </p:sp>
      <p:sp>
        <p:nvSpPr>
          <p:cNvPr id="7" name="roadmap card 1"/>
          <p:cNvSpPr/>
          <p:nvPr/>
        </p:nvSpPr>
        <p:spPr>
          <a:xfrm>
            <a:off x="45720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REVIEW 1</a:t>
            </a:r>
            <a:endParaRPr lang="en-US" sz="1200" dirty="0"/>
          </a:p>
        </p:txBody>
      </p:sp>
      <p:sp>
        <p:nvSpPr>
          <p:cNvPr id="9" name="pill"/>
          <p:cNvSpPr/>
          <p:nvPr/>
        </p:nvSpPr>
        <p:spPr>
          <a:xfrm>
            <a:off x="685800" y="1737360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737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Problem, scope, 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 diagram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Initial schema (8 tables)</a:t>
            </a:r>
            <a:endParaRPr lang="en-US" sz="1400" dirty="0"/>
          </a:p>
        </p:txBody>
      </p:sp>
      <p:sp>
        <p:nvSpPr>
          <p:cNvPr id="12" name="roadmap card 2"/>
          <p:cNvSpPr/>
          <p:nvPr/>
        </p:nvSpPr>
        <p:spPr>
          <a:xfrm>
            <a:off x="324612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REVIEW 2</a:t>
            </a:r>
            <a:endParaRPr lang="en-US" sz="1200" dirty="0"/>
          </a:p>
        </p:txBody>
      </p:sp>
      <p:sp>
        <p:nvSpPr>
          <p:cNvPr id="14" name="pill"/>
          <p:cNvSpPr/>
          <p:nvPr/>
        </p:nvSpPr>
        <p:spPr>
          <a:xfrm>
            <a:off x="3474720" y="1737360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1737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This review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3NF schema, 13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DDL, triggers, procedures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Sample data and SQL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Learner mode + Instructor mode</a:t>
            </a:r>
            <a:endParaRPr lang="en-US" sz="1400" dirty="0"/>
          </a:p>
        </p:txBody>
      </p:sp>
      <p:sp>
        <p:nvSpPr>
          <p:cNvPr id="17" name="roadmap card 3"/>
          <p:cNvSpPr/>
          <p:nvPr/>
        </p:nvSpPr>
        <p:spPr>
          <a:xfrm>
            <a:off x="603504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REVIEW 3</a:t>
            </a:r>
            <a:endParaRPr lang="en-US" sz="1200" dirty="0"/>
          </a:p>
        </p:txBody>
      </p:sp>
      <p:sp>
        <p:nvSpPr>
          <p:cNvPr id="19" name="pill"/>
          <p:cNvSpPr/>
          <p:nvPr/>
        </p:nvSpPr>
        <p:spPr>
          <a:xfrm>
            <a:off x="6263640" y="1737360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1737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Next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mode (password protected)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CRUD on every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 and SQL console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demo and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Relational schema (3NF)</a:t>
            </a:r>
            <a:endParaRPr lang="en-US" sz="3000" dirty="0"/>
          </a:p>
        </p:txBody>
      </p:sp>
      <p:sp>
        <p:nvSpPr>
          <p:cNvPr id="7" name="group People"/>
          <p:cNvSpPr/>
          <p:nvPr/>
        </p:nvSpPr>
        <p:spPr>
          <a:xfrm>
            <a:off x="457200" y="1143000"/>
            <a:ext cx="1947672" cy="3429000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34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People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instructors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instructor_id PK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learners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542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learner_id PK</a:t>
            </a:r>
            <a:endParaRPr lang="en-US" sz="1000" dirty="0"/>
          </a:p>
        </p:txBody>
      </p:sp>
      <p:sp>
        <p:nvSpPr>
          <p:cNvPr id="13" name="group Content"/>
          <p:cNvSpPr/>
          <p:nvPr/>
        </p:nvSpPr>
        <p:spPr>
          <a:xfrm>
            <a:off x="2542032" y="1143000"/>
            <a:ext cx="1947672" cy="3429000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79192" y="1234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Content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679192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courses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79192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course_id PK, instructor_id FK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679192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modules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79192" y="2542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module_id PK, course_id FK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679192" y="30540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lessons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679192" y="32552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lesson_id PK, module_id FK</a:t>
            </a:r>
            <a:endParaRPr lang="en-US" sz="1000" dirty="0"/>
          </a:p>
        </p:txBody>
      </p:sp>
      <p:sp>
        <p:nvSpPr>
          <p:cNvPr id="21" name="group Assessment"/>
          <p:cNvSpPr/>
          <p:nvPr/>
        </p:nvSpPr>
        <p:spPr>
          <a:xfrm>
            <a:off x="4626864" y="1143000"/>
            <a:ext cx="1947672" cy="3429000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64024" y="1234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Assessment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764024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quizzes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64024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quiz_id PK, course_id FK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764024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64024" y="2542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question_id PK, quiz_id FK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764024" y="30540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attempts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764024" y="32552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attempt_id PK, quiz_id FK, enrolment_id FK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764024" y="37673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responses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64024" y="39684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response_id PK, attempt_id FK, question_id FK</a:t>
            </a:r>
            <a:endParaRPr lang="en-US" sz="1000" dirty="0"/>
          </a:p>
        </p:txBody>
      </p:sp>
      <p:sp>
        <p:nvSpPr>
          <p:cNvPr id="31" name="group Tracking"/>
          <p:cNvSpPr/>
          <p:nvPr/>
        </p:nvSpPr>
        <p:spPr>
          <a:xfrm>
            <a:off x="6711696" y="1143000"/>
            <a:ext cx="1947672" cy="3429000"/>
          </a:xfrm>
          <a:prstGeom prst="roundRect">
            <a:avLst>
              <a:gd name="adj" fmla="val 3756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48856" y="1234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Tracking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848856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enrolments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848856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enrolment_id PK, learner_id FK, course_id FK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848856" y="23408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lesson_progress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848856" y="2542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progress_id PK, enrolment_id FK, lesson_id FK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848856" y="305409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certificates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48856" y="32552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certificate_id PK, enrolment_id FK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48856" y="37673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feedback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848856" y="39684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feedback_id PK, enrolment_id FK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Normalization: 1NF to 3NF</a:t>
            </a:r>
            <a:endParaRPr lang="en-US" sz="3000" dirty="0"/>
          </a:p>
        </p:txBody>
      </p:sp>
      <p:sp>
        <p:nvSpPr>
          <p:cNvPr id="7" name="norm card 1NF"/>
          <p:cNvSpPr/>
          <p:nvPr/>
        </p:nvSpPr>
        <p:spPr>
          <a:xfrm>
            <a:off x="45720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badge 1NF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1NF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Atomic values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603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column holds one value. Quiz options are stored as option_a to option_d, and each response is its own row in responses.</a:t>
            </a:r>
            <a:endParaRPr lang="en-US" sz="1300" dirty="0"/>
          </a:p>
        </p:txBody>
      </p:sp>
      <p:sp>
        <p:nvSpPr>
          <p:cNvPr id="12" name="norm card 2NF"/>
          <p:cNvSpPr/>
          <p:nvPr/>
        </p:nvSpPr>
        <p:spPr>
          <a:xfrm>
            <a:off x="324612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badge 2NF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2NF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partial dependency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5603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Non-key columns depend on the whole key. Enrolment details sit in enrolments, not repeated in lesson_progress or attempts.</a:t>
            </a:r>
            <a:endParaRPr lang="en-US" sz="1300" dirty="0"/>
          </a:p>
        </p:txBody>
      </p:sp>
      <p:sp>
        <p:nvSpPr>
          <p:cNvPr id="17" name="norm card 3NF"/>
          <p:cNvSpPr/>
          <p:nvPr/>
        </p:nvSpPr>
        <p:spPr>
          <a:xfrm>
            <a:off x="6035040" y="118872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8" name="badge 3NF"/>
          <p:cNvSpPr/>
          <p:nvPr/>
        </p:nvSpPr>
        <p:spPr>
          <a:xfrm>
            <a:off x="6263640" y="13716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3NF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transitive dependency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5603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Instructor details live only in instructors, referenced by instructor_id from courses. Course progress is calculated by views, not stored twice.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Functional dependencies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97764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Functional dependency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Candidate keys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enrolments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enrolment_id -&gt; learner_id, course_id, enrol_date,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enrolment_id; (learner_id, course_id)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lessons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lesson_id -&gt; module_id, title, duration, lesson_order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lesson_id; (module_id, lesson_order)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courses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course_id -&gt; title, category, level, price, status, instructor_id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course_id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attempts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attempt_id -&gt; enrolment_id, quiz_id, attempt_no, score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attempt_id; (enrolment_id, quiz_id, attempt_no)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lesson_progress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progress_id -&gt; enrolment_id, lesson_id, progress_pct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progress_id; (enrolment_id, lesson_id)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certificates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certificate_id -&gt; enrolment_id, certificate_code, issued_on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certificate_id; enrolment_id; certificate_code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Data dictionary (key columns)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46888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Table.column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Constraint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learners.email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UNIQUE, NOT NULL, CHECK format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Login and contact address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courses.status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DEFAULT 'draft'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draft, published or archived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enrolments.status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ENUM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DEFAULT 'Active'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Active, Completed or Dropped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enrolments (learner, course)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INT, INT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UNIQUE pair, both FK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One enrolment per course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lesson_progress.progress_pct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TINYINT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0 to 100, DEFAULT 0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Completion of one lesson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quizzes.max_attempts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&gt; 0, DEFAULT 3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Attempt cap per quiz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attempts.score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&gt;= 0, trigger &lt;= total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Marks earned in an attempt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questions.correct_option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ENUM('A'..'D')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Answer key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feedback.rating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TINYINT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1 to 5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Learner rating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Business rules enforced in the database</a:t>
            </a:r>
            <a:endParaRPr lang="en-US" sz="3000" dirty="0"/>
          </a:p>
        </p:txBody>
      </p:sp>
      <p:sp>
        <p:nvSpPr>
          <p:cNvPr id="7" name="rule 1"/>
          <p:cNvSpPr/>
          <p:nvPr/>
        </p:nvSpPr>
        <p:spPr>
          <a:xfrm>
            <a:off x="457200" y="11430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179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enrolment per course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4264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UNIQUE (learner_id, course_id)</a:t>
            </a:r>
            <a:endParaRPr lang="en-US" sz="1050" dirty="0"/>
          </a:p>
        </p:txBody>
      </p:sp>
      <p:sp>
        <p:nvSpPr>
          <p:cNvPr id="10" name="rule 2"/>
          <p:cNvSpPr/>
          <p:nvPr/>
        </p:nvSpPr>
        <p:spPr>
          <a:xfrm>
            <a:off x="457200" y="1801368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8379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Progress within 0 to 100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0848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CHECK (progress_pct BETWEEN 0 AND 100)</a:t>
            </a:r>
            <a:endParaRPr lang="en-US" sz="1050" dirty="0"/>
          </a:p>
        </p:txBody>
      </p:sp>
      <p:sp>
        <p:nvSpPr>
          <p:cNvPr id="13" name="rule 3"/>
          <p:cNvSpPr/>
          <p:nvPr/>
        </p:nvSpPr>
        <p:spPr>
          <a:xfrm>
            <a:off x="457200" y="2459736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496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Attempt limits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743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Trigger on attempts vs quizzes.max_attempts</a:t>
            </a:r>
            <a:endParaRPr lang="en-US" sz="1050" dirty="0"/>
          </a:p>
        </p:txBody>
      </p:sp>
      <p:sp>
        <p:nvSpPr>
          <p:cNvPr id="16" name="rule 4"/>
          <p:cNvSpPr/>
          <p:nvPr/>
        </p:nvSpPr>
        <p:spPr>
          <a:xfrm>
            <a:off x="457200" y="3118104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154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 scores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4015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CHECK (score &gt;= 0) + trigger vs total marks</a:t>
            </a:r>
            <a:endParaRPr lang="en-US" sz="1050" dirty="0"/>
          </a:p>
        </p:txBody>
      </p:sp>
      <p:sp>
        <p:nvSpPr>
          <p:cNvPr id="19" name="rule 5"/>
          <p:cNvSpPr/>
          <p:nvPr/>
        </p:nvSpPr>
        <p:spPr>
          <a:xfrm>
            <a:off x="457200" y="3776472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8130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Completion criteria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4059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Certificate trigger checks lessons and quizzes</a:t>
            </a:r>
            <a:endParaRPr lang="en-US" sz="1050" dirty="0"/>
          </a:p>
        </p:txBody>
      </p:sp>
      <p:sp>
        <p:nvSpPr>
          <p:cNvPr id="22" name="code box"/>
          <p:cNvSpPr/>
          <p:nvPr/>
        </p:nvSpPr>
        <p:spPr>
          <a:xfrm>
            <a:off x="4526280" y="1143000"/>
            <a:ext cx="4160520" cy="3200400"/>
          </a:xfrm>
          <a:prstGeom prst="roundRect">
            <a:avLst>
              <a:gd name="adj" fmla="val 1714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3" name="code text"/>
          <p:cNvSpPr txBox="1"/>
          <p:nvPr/>
        </p:nvSpPr>
        <p:spPr>
          <a:xfrm>
            <a:off x="4663440" y="1216152"/>
            <a:ext cx="388620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enrolments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enrolment_id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learner_id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course_id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enrol_date   DATE DEFAULT (CURRENT_DATE),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ENUM('Active','Completed','Dropped')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NOT NULL DEFAULT 'Active',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(learner_id, course_id),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(learner_id)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learners(learner_id),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(course_id)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courses(course_id)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lesson_progress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progress_pct TINYINT NOT NULL DEFAULT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(progress_pct BETWEEN 0 AND 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Triggers, procedures, views, indexes</a:t>
            </a:r>
            <a:endParaRPr lang="en-US" sz="3000" dirty="0"/>
          </a:p>
        </p:txBody>
      </p:sp>
      <p:sp>
        <p:nvSpPr>
          <p:cNvPr id="7" name="object Triggers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Triggers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Block extra quiz attempts. Block certificates unless the course is completed and quizzes passed.</a:t>
            </a:r>
            <a:endParaRPr lang="en-US" sz="1300" dirty="0"/>
          </a:p>
        </p:txBody>
      </p:sp>
      <p:sp>
        <p:nvSpPr>
          <p:cNvPr id="10" name="object Stored procedures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Stored procedures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enroll_learner, submit_quiz_attempt, complete_lesson, issue_certificate. Each runs in a transaction with rollback on error.</a:t>
            </a:r>
            <a:endParaRPr lang="en-US" sz="1300" dirty="0"/>
          </a:p>
        </p:txBody>
      </p:sp>
      <p:sp>
        <p:nvSpPr>
          <p:cNvPr id="13" name="object Views"/>
          <p:cNvSpPr/>
          <p:nvPr/>
        </p:nvSpPr>
        <p:spPr>
          <a:xfrm>
            <a:off x="45720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Views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246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learner progress, course completion, dropout, quiz performance, certificate eligibility, instructor summary.</a:t>
            </a:r>
            <a:endParaRPr lang="en-US" sz="1300" dirty="0"/>
          </a:p>
        </p:txBody>
      </p:sp>
      <p:sp>
        <p:nvSpPr>
          <p:cNvPr id="16" name="object Indexes"/>
          <p:cNvSpPr/>
          <p:nvPr/>
        </p:nvSpPr>
        <p:spPr>
          <a:xfrm>
            <a:off x="466344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Indexes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246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email, course title and status, enrolment learner and course, attempt enrolment and quiz.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Sample data</a:t>
            </a:r>
            <a:endParaRPr lang="en-US" sz="3000" dirty="0"/>
          </a:p>
        </p:txBody>
      </p:sp>
      <p:sp>
        <p:nvSpPr>
          <p:cNvPr id="7" name="stat 1"/>
          <p:cNvSpPr/>
          <p:nvPr/>
        </p:nvSpPr>
        <p:spPr>
          <a:xfrm>
            <a:off x="457200" y="1143000"/>
            <a:ext cx="194767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</a:rPr>
              <a:t>9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published courses</a:t>
            </a:r>
            <a:endParaRPr lang="en-US" sz="1200" dirty="0"/>
          </a:p>
        </p:txBody>
      </p:sp>
      <p:sp>
        <p:nvSpPr>
          <p:cNvPr id="10" name="stat 2"/>
          <p:cNvSpPr/>
          <p:nvPr/>
        </p:nvSpPr>
        <p:spPr>
          <a:xfrm>
            <a:off x="2542032" y="1143000"/>
            <a:ext cx="194767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24912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</a:rPr>
              <a:t>5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2724912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instructors</a:t>
            </a:r>
            <a:endParaRPr lang="en-US" sz="1200" dirty="0"/>
          </a:p>
        </p:txBody>
      </p:sp>
      <p:sp>
        <p:nvSpPr>
          <p:cNvPr id="13" name="stat 3"/>
          <p:cNvSpPr/>
          <p:nvPr/>
        </p:nvSpPr>
        <p:spPr>
          <a:xfrm>
            <a:off x="4626864" y="1143000"/>
            <a:ext cx="194767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9744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</a:rPr>
              <a:t>9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4809744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lessons in a full course (3 modules x 3)</a:t>
            </a:r>
            <a:endParaRPr lang="en-US" sz="1200" dirty="0"/>
          </a:p>
        </p:txBody>
      </p:sp>
      <p:sp>
        <p:nvSpPr>
          <p:cNvPr id="16" name="stat 4"/>
          <p:cNvSpPr/>
          <p:nvPr/>
        </p:nvSpPr>
        <p:spPr>
          <a:xfrm>
            <a:off x="6711696" y="1143000"/>
            <a:ext cx="1947672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94576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</a:rPr>
              <a:t>5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6894576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questions per quiz, 20 marks each</a:t>
            </a:r>
            <a:endParaRPr lang="en-US" sz="1200" dirty="0"/>
          </a:p>
        </p:txBody>
      </p:sp>
      <p:sp>
        <p:nvSpPr>
          <p:cNvPr id="19" name="mix card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2852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Enrolments cover every status so the reports have something to show</a:t>
            </a:r>
            <a:endParaRPr lang="en-US" sz="1500" dirty="0"/>
          </a:p>
        </p:txBody>
      </p:sp>
      <p:sp>
        <p:nvSpPr>
          <p:cNvPr id="21" name="pill"/>
          <p:cNvSpPr/>
          <p:nvPr/>
        </p:nvSpPr>
        <p:spPr>
          <a:xfrm>
            <a:off x="685800" y="3310128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3101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Active</a:t>
            </a:r>
            <a:endParaRPr lang="en-US" sz="1000" dirty="0"/>
          </a:p>
        </p:txBody>
      </p:sp>
      <p:sp>
        <p:nvSpPr>
          <p:cNvPr id="23" name="pill"/>
          <p:cNvSpPr/>
          <p:nvPr/>
        </p:nvSpPr>
        <p:spPr>
          <a:xfrm>
            <a:off x="1828800" y="3310128"/>
            <a:ext cx="11887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828800" y="3310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25" name="pill"/>
          <p:cNvSpPr/>
          <p:nvPr/>
        </p:nvSpPr>
        <p:spPr>
          <a:xfrm>
            <a:off x="3154680" y="3310128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54680" y="33101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Dropped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367588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Learners, lesson progress, quiz attempts with responses, certificates and feedback are spread over several months. Constraints reject duplicate enrolments, progress above 100 and extra quiz attempts.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SQL queries: joins and aggregation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Learner progress   [JOIN]</a:t>
            </a:r>
            <a:endParaRPr lang="en-US" sz="1400" dirty="0"/>
          </a:p>
        </p:txBody>
      </p:sp>
      <p:sp>
        <p:nvSpPr>
          <p:cNvPr id="8" name="code box"/>
          <p:cNvSpPr/>
          <p:nvPr/>
        </p:nvSpPr>
        <p:spPr>
          <a:xfrm>
            <a:off x="457200" y="1371600"/>
            <a:ext cx="4023360" cy="2331720"/>
          </a:xfrm>
          <a:prstGeom prst="roundRect">
            <a:avLst>
              <a:gd name="adj" fmla="val 2353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code text"/>
          <p:cNvSpPr txBox="1"/>
          <p:nvPr/>
        </p:nvSpPr>
        <p:spPr>
          <a:xfrm>
            <a:off x="594360" y="1444752"/>
            <a:ext cx="374904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l.name, c.title, e.status,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COUNT(lp.lesson_id) AS lessons_done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enrolments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learners l ON l.learner_id = e.learner_id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 c ON c.course_id  = e.course_id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lesson_progress lp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 lp.enrolment_id = e.enrolment_id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lp.progress_pct = 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e.enrolment_id, l.name,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c.title, e.status;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Course completion rate   [GROUP BY]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Shows how many lessons each learner has finished in each course.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Shows enrolled, completed and completion percentage for every course.</a:t>
            </a:r>
            <a:endParaRPr lang="en-US" sz="1300" dirty="0"/>
          </a:p>
        </p:txBody>
      </p:sp>
      <p:sp>
        <p:nvSpPr>
          <p:cNvPr id="13" name="code box"/>
          <p:cNvSpPr/>
          <p:nvPr/>
        </p:nvSpPr>
        <p:spPr>
          <a:xfrm>
            <a:off x="4663440" y="1371600"/>
            <a:ext cx="4023360" cy="2331720"/>
          </a:xfrm>
          <a:prstGeom prst="roundRect">
            <a:avLst>
              <a:gd name="adj" fmla="val 2353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code text"/>
          <p:cNvSpPr txBox="1"/>
          <p:nvPr/>
        </p:nvSpPr>
        <p:spPr>
          <a:xfrm>
            <a:off x="4800600" y="1444752"/>
            <a:ext cx="374904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c.title,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enrolled,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SUM(e.status = 'Completed') AS completed,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 * SUM(e.status = 'Completed')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 COUNT(*), 1) AS completion_pct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courses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enrolments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e.course_id = c.course_id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c.course_id, c.title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0;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SQL queries: subqueries and views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Certificate eligibility   [nested subquery]</a:t>
            </a:r>
            <a:endParaRPr lang="en-US" sz="1400" dirty="0"/>
          </a:p>
        </p:txBody>
      </p:sp>
      <p:sp>
        <p:nvSpPr>
          <p:cNvPr id="8" name="code box"/>
          <p:cNvSpPr/>
          <p:nvPr/>
        </p:nvSpPr>
        <p:spPr>
          <a:xfrm>
            <a:off x="457200" y="1371600"/>
            <a:ext cx="4754880" cy="3017520"/>
          </a:xfrm>
          <a:prstGeom prst="roundRect">
            <a:avLst>
              <a:gd name="adj" fmla="val 1818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code text"/>
          <p:cNvSpPr txBox="1"/>
          <p:nvPr/>
        </p:nvSpPr>
        <p:spPr>
          <a:xfrm>
            <a:off x="594360" y="1444752"/>
            <a:ext cx="44805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e.enrolment_id, l.name, c.title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enrolments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learners l ON l.learner_id = e.learner_id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courses  c ON c.course_id  = e.course_id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e.status = 'Completed'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e.enrolment_id NOT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(SELECT enrolment_id FROM certificates)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NOT EXISTS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1 FROM quizzes 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q.course_id = e.course_id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NOT EXISTS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1 FROM attempts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WHERE a.enrolment_id = e.enrolment_id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AND a.quiz_id = q.quiz_id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AND a.score &gt;= q.pass_marks));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Views created</a:t>
            </a:r>
            <a:endParaRPr lang="en-US" sz="1400" dirty="0"/>
          </a:p>
        </p:txBody>
      </p:sp>
      <p:sp>
        <p:nvSpPr>
          <p:cNvPr id="11" name="view vw_learner_progress"/>
          <p:cNvSpPr/>
          <p:nvPr/>
        </p:nvSpPr>
        <p:spPr>
          <a:xfrm>
            <a:off x="5440680" y="1371600"/>
            <a:ext cx="3246120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0" y="137160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vw_learner_progress</a:t>
            </a:r>
            <a:endParaRPr lang="en-US" sz="1200" dirty="0"/>
          </a:p>
        </p:txBody>
      </p:sp>
      <p:sp>
        <p:nvSpPr>
          <p:cNvPr id="13" name="view vw_course_completion"/>
          <p:cNvSpPr/>
          <p:nvPr/>
        </p:nvSpPr>
        <p:spPr>
          <a:xfrm>
            <a:off x="5440680" y="1874520"/>
            <a:ext cx="3246120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187452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vw_course_completion</a:t>
            </a:r>
            <a:endParaRPr lang="en-US" sz="1200" dirty="0"/>
          </a:p>
        </p:txBody>
      </p:sp>
      <p:sp>
        <p:nvSpPr>
          <p:cNvPr id="15" name="view vw_dropout_report"/>
          <p:cNvSpPr/>
          <p:nvPr/>
        </p:nvSpPr>
        <p:spPr>
          <a:xfrm>
            <a:off x="5440680" y="2377440"/>
            <a:ext cx="3246120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77840" y="237744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vw_dropout_report</a:t>
            </a:r>
            <a:endParaRPr lang="en-US" sz="1200" dirty="0"/>
          </a:p>
        </p:txBody>
      </p:sp>
      <p:sp>
        <p:nvSpPr>
          <p:cNvPr id="17" name="view vw_quiz_performance"/>
          <p:cNvSpPr/>
          <p:nvPr/>
        </p:nvSpPr>
        <p:spPr>
          <a:xfrm>
            <a:off x="5440680" y="2880360"/>
            <a:ext cx="3246120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77840" y="288036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vw_quiz_performance</a:t>
            </a:r>
            <a:endParaRPr lang="en-US" sz="1200" dirty="0"/>
          </a:p>
        </p:txBody>
      </p:sp>
      <p:sp>
        <p:nvSpPr>
          <p:cNvPr id="19" name="view vw_certificate_eligibility"/>
          <p:cNvSpPr/>
          <p:nvPr/>
        </p:nvSpPr>
        <p:spPr>
          <a:xfrm>
            <a:off x="5440680" y="3383280"/>
            <a:ext cx="3246120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7840" y="338328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vw_certificate_eligibility</a:t>
            </a:r>
            <a:endParaRPr lang="en-US" sz="1200" dirty="0"/>
          </a:p>
        </p:txBody>
      </p:sp>
      <p:sp>
        <p:nvSpPr>
          <p:cNvPr id="21" name="view vw_instructor_summary"/>
          <p:cNvSpPr/>
          <p:nvPr/>
        </p:nvSpPr>
        <p:spPr>
          <a:xfrm>
            <a:off x="5440680" y="3886200"/>
            <a:ext cx="3246120" cy="429768"/>
          </a:xfrm>
          <a:prstGeom prst="roundRect">
            <a:avLst>
              <a:gd name="adj" fmla="val 1702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77840" y="3886200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vw_instructor_summary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Prototype: three modes, one database</a:t>
            </a:r>
            <a:endParaRPr lang="en-US" sz="3000" dirty="0"/>
          </a:p>
        </p:txBody>
      </p:sp>
      <p:sp>
        <p:nvSpPr>
          <p:cNvPr id="7" name="mode Learner mode"/>
          <p:cNvSpPr/>
          <p:nvPr/>
        </p:nvSpPr>
        <p:spPr>
          <a:xfrm>
            <a:off x="457200" y="118872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Learner mode</a:t>
            </a:r>
            <a:endParaRPr lang="en-US" sz="1800" dirty="0"/>
          </a:p>
        </p:txBody>
      </p:sp>
      <p:sp>
        <p:nvSpPr>
          <p:cNvPr id="9" name="pill"/>
          <p:cNvSpPr/>
          <p:nvPr/>
        </p:nvSpPr>
        <p:spPr>
          <a:xfrm>
            <a:off x="685800" y="1828800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828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Available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40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Browse course catalog and enrol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Track lessons and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Take quizzes within attempt limits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View and print certificates</a:t>
            </a:r>
            <a:endParaRPr lang="en-US" sz="1300" dirty="0"/>
          </a:p>
        </p:txBody>
      </p:sp>
      <p:sp>
        <p:nvSpPr>
          <p:cNvPr id="12" name="mode Instructor mode"/>
          <p:cNvSpPr/>
          <p:nvPr/>
        </p:nvSpPr>
        <p:spPr>
          <a:xfrm>
            <a:off x="3246120" y="118872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Instructor mode</a:t>
            </a:r>
            <a:endParaRPr lang="en-US" sz="1800" dirty="0"/>
          </a:p>
        </p:txBody>
      </p:sp>
      <p:sp>
        <p:nvSpPr>
          <p:cNvPr id="14" name="pill"/>
          <p:cNvSpPr/>
          <p:nvPr/>
        </p:nvSpPr>
        <p:spPr>
          <a:xfrm>
            <a:off x="3474720" y="1828800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1828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Available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240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Password-protected studio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Courses, modules, lessons, quizzes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Add, edit and delete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Student progress and feedback</a:t>
            </a:r>
            <a:endParaRPr lang="en-US" sz="1300" dirty="0"/>
          </a:p>
        </p:txBody>
      </p:sp>
      <p:sp>
        <p:nvSpPr>
          <p:cNvPr id="17" name="mode Admin mode"/>
          <p:cNvSpPr/>
          <p:nvPr/>
        </p:nvSpPr>
        <p:spPr>
          <a:xfrm>
            <a:off x="6035040" y="1188720"/>
            <a:ext cx="2606040" cy="29260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 mode</a:t>
            </a:r>
            <a:endParaRPr lang="en-US" sz="1800" dirty="0"/>
          </a:p>
        </p:txBody>
      </p:sp>
      <p:sp>
        <p:nvSpPr>
          <p:cNvPr id="19" name="pill"/>
          <p:cNvSpPr/>
          <p:nvPr/>
        </p:nvSpPr>
        <p:spPr>
          <a:xfrm>
            <a:off x="6263640" y="1828800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1828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Review 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24028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Password-protected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Every table, full CRUD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Reports and CSV export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SQL console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Learner mode: my learning</a:t>
            </a:r>
            <a:endParaRPr lang="en-US" sz="3000" dirty="0"/>
          </a:p>
        </p:txBody>
      </p:sp>
      <p:pic>
        <p:nvPicPr>
          <p:cNvPr id="7" name="Learner dashboard" descr="Learner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680960" cy="28800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731520" y="416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Progress bars and lesson counts come from the learner progress view. Completed and Active states match the enrolment status in the database.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Learner mode: catalog and enrolment</a:t>
            </a:r>
            <a:endParaRPr lang="en-US" sz="3000" dirty="0"/>
          </a:p>
        </p:txBody>
      </p:sp>
      <p:pic>
        <p:nvPicPr>
          <p:cNvPr id="7" name="Course catalog" descr="Course cat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302281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263640" y="118872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and browse published courses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Enrol Free calls the enroll_learner procedure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Enrolled courses cannot be enrolled twice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Level and category come from the courses 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Learner mode: certificates</a:t>
            </a:r>
            <a:endParaRPr lang="en-US" sz="3000" dirty="0"/>
          </a:p>
        </p:txBody>
      </p:sp>
      <p:pic>
        <p:nvPicPr>
          <p:cNvPr id="7" name="My certificates" descr="My certific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7680960" cy="223608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731520" y="3561967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 certificate code for every issue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Issued only when lessons and quizzes are complete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or print from the learner portal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Instructor mode: studio</a:t>
            </a:r>
            <a:endParaRPr lang="en-US" sz="3000" dirty="0"/>
          </a:p>
        </p:txBody>
      </p:sp>
      <p:pic>
        <p:nvPicPr>
          <p:cNvPr id="7" name="Instructor unlock dialog" descr="Instructor unlock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743200" cy="18275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8" name="Instructor dashboard" descr="Instructor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5212080" cy="199773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457200" y="3520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Pick an instructor profile and unlock the studio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Dashboard shows courses, modules, lessons, students and average rating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Instructors only see and edit their own courses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Instructor mode: lessons and quizzes</a:t>
            </a:r>
            <a:endParaRPr lang="en-US" sz="3000" dirty="0"/>
          </a:p>
        </p:txBody>
      </p:sp>
      <p:pic>
        <p:nvPicPr>
          <p:cNvPr id="7" name="Course lessons" descr="Course less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00067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8" name="Quiz questions" descr="Quiz ques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00067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Lessons grouped by course and module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Order and duration for each lesson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3383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Options A to D with the correct key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Marks and order for each question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Instructor mode: student progress</a:t>
            </a:r>
            <a:endParaRPr lang="en-US" sz="3000" dirty="0"/>
          </a:p>
        </p:txBody>
      </p:sp>
      <p:pic>
        <p:nvPicPr>
          <p:cNvPr id="7" name="Student progress tracking" descr="Student progress trac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294176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263640" y="118872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on the learner progress 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pills: Active, Completed, Dropped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Lessons done and quizzes passed per learner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Filter by student or course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1"/>
          <p:cNvSpPr/>
          <p:nvPr/>
        </p:nvSpPr>
        <p:spPr>
          <a:xfrm>
            <a:off x="7726680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2"/>
          <p:cNvSpPr/>
          <p:nvPr/>
        </p:nvSpPr>
        <p:spPr>
          <a:xfrm>
            <a:off x="8037576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f circle 3"/>
          <p:cNvSpPr/>
          <p:nvPr/>
        </p:nvSpPr>
        <p:spPr>
          <a:xfrm>
            <a:off x="8348472" y="4617720"/>
            <a:ext cx="365760" cy="365760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Progress and next steps</a:t>
            </a:r>
            <a:endParaRPr lang="en-US" sz="3000" dirty="0"/>
          </a:p>
        </p:txBody>
      </p:sp>
      <p:sp>
        <p:nvSpPr>
          <p:cNvPr id="7" name="done card"/>
          <p:cNvSpPr/>
          <p:nvPr/>
        </p:nvSpPr>
        <p:spPr>
          <a:xfrm>
            <a:off x="45720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next card"/>
          <p:cNvSpPr/>
          <p:nvPr/>
        </p:nvSpPr>
        <p:spPr>
          <a:xfrm>
            <a:off x="4663440" y="1188720"/>
            <a:ext cx="402336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Completed in Review 2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Planned for Review 3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8308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3NF schema with 13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DDL with constraints and triggers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 and views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Sample data and SQL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Learner mode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Instructor mode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8308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mode with password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 browser with CRUD on all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Reports with CSV export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console for read-only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Testing and error handling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demonstration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2">
  <a:themeElements>
    <a:clrScheme name="Review2">
      <a:dk1>
        <a:srgbClr val="111111"/>
      </a:dk1>
      <a:lt1>
        <a:srgbClr val="FFFFFF"/>
      </a:lt1>
      <a:dk2>
        <a:srgbClr val="46525C"/>
      </a:dk2>
      <a:lt2>
        <a:srgbClr val="EDF1F4"/>
      </a:lt2>
      <a:accent1>
        <a:srgbClr val="D4810F"/>
      </a:accent1>
      <a:accent2>
        <a:srgbClr val="1F8A5B"/>
      </a:accent2>
      <a:accent3>
        <a:srgbClr val="3B6FD4"/>
      </a:accent3>
      <a:accent4>
        <a:srgbClr val="C2453D"/>
      </a:accent4>
      <a:accent5>
        <a:srgbClr val="6B7B8C"/>
      </a:accent5>
      <a:accent6>
        <a:srgbClr val="14181F"/>
      </a:accent6>
      <a:hlink>
        <a:srgbClr val="D4810F"/>
      </a:hlink>
      <a:folHlink>
        <a:srgbClr val="6B7B8C"/>
      </a:folHlink>
    </a:clrScheme>
    <a:fontScheme name="Review2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34 - Review 2</dc:title>
  <dc:subject>PptxGenJS Presentation</dc:subject>
  <dc:creator>Joy Peswani</dc:creator>
  <cp:lastModifiedBy>Joy Peswani</cp:lastModifiedBy>
  <cp:revision>1</cp:revision>
  <dcterms:created xsi:type="dcterms:W3CDTF">2026-10-11T07:17:28Z</dcterms:created>
  <dcterms:modified xsi:type="dcterms:W3CDTF">2026-10-11T07:17:28Z</dcterms:modified>
</cp:coreProperties>
</file>