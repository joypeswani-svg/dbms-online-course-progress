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b8797fe4-0d61-75b7-1513-aca82e0234fb}">
          <p14:sldIdLst>
            <p14:sldId id="256"/>
          </p14:sldIdLst>
        </p14:section>
        <p14:section name="Progress" id="{65c5ecc9-cc04-2176-39ca-61478bd7cad5}">
          <p14:sldIdLst>
            <p14:sldId id="257"/>
          </p14:sldIdLst>
        </p14:section>
        <p14:section name="System" id="{65475c0f-e473-f331-af14-0e92c3359e79}">
          <p14:sldIdLst>
            <p14:sldId id="258"/>
            <p14:sldId id="259"/>
          </p14:sldIdLst>
        </p14:section>
        <p14:section name="Admin mode" id="{a0d91eff-5f9a-4c3a-d751-8cb54c5e4e85}">
          <p14:sldIdLst>
            <p14:sldId id="260"/>
            <p14:sldId id="261"/>
            <p14:sldId id="262"/>
            <p14:sldId id="263"/>
            <p14:sldId id="264"/>
            <p14:sldId id="265"/>
          </p14:sldIdLst>
        </p14:section>
        <p14:section name="Reports" id="{53285e86-38f5-c592-c98a-16f3a9783b87}">
          <p14:sldIdLst>
            <p14:sldId id="266"/>
            <p14:sldId id="267"/>
            <p14:sldId id="268"/>
          </p14:sldIdLst>
        </p14:section>
        <p14:section name="Testing" id="{df80f632-c75d-b9fa-c9f8-c580ecab5785}">
          <p14:sldIdLst>
            <p14:sldId id="269"/>
            <p14:sldId id="270"/>
          </p14:sldIdLst>
        </p14:section>
        <p14:section name="Close" id="{1015a751-8381-5db3-2c1c-6d1cda993c78}">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review: the complete system with Learner, Instructor and Admin modes on one MySQL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1 was design, Review 2 was database plus two modes, Review 3 completes the system with admin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browser front end, a Flask application, and the MySQL database that enforces the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counts are read from the admin sidebar. Users holds one admin, five instructors and twenty learners.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 mode is opened from the top bar and needs a password.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KPI cards and four charts, all calculated from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 percentages are calculated by the database, not typed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table browser covers all 14 tables: create, read, update and delete.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Required fields are checked before anything reaches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quizzes. Each shows pass mark, max tries and its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report tab reads one SQL view and can be exported to 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read-only console for live queries during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Eligibility is enforced by a database trigger, so a certificate cannot be issued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rule is enforced by the database, so the application cannot bypass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each case in the live demo and record the actual result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package for the final review and viva.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covers the whole learning lifecycle. Future work moves it from a demo to a production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LAYOUT">
    <p:bg>
      <p:bgPr>
        <a:solidFill>
          <a:srgbClr val="EDF1F4"/>
        </a:solidFill>
      </p:bgPr>
    </p:bg>
    <p:spTree>
      <p:nvGrpSpPr>
        <p:cNvPr id="1" name=""/>
        <p:cNvGrpSpPr/>
        <p:nvPr/>
      </p:nvGrpSpPr>
      <p:grpSpPr>
        <a:xfrm>
          <a:off x="0" y="0"/>
          <a:ext cx="0" cy="0"/>
          <a:chOff x="0" y="0"/>
          <a:chExt cx="0" cy="0"/>
        </a:xfrm>
      </p:grpSpPr>
      <p:sp>
        <p:nvSpPr>
          <p:cNvPr id="2" name="Shape 0"/>
          <p:cNvSpPr/>
          <p:nvPr/>
        </p:nvSpPr>
        <p:spPr>
          <a:xfrm>
            <a:off x="5943600" y="0"/>
            <a:ext cx="3200400" cy="5143500"/>
          </a:xfrm>
          <a:prstGeom prst="rect">
            <a:avLst/>
          </a:prstGeom>
          <a:solidFill>
            <a:schemeClr val="bg1"/>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EDF1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680960" cy="685800"/>
          </a:xfrm>
          <a:prstGeom prst="rect">
            <a:avLst/>
          </a:prstGeom>
          <a:noFill/>
          <a:ln/>
        </p:spPr>
        <p:txBody>
          <a:bodyPr wrap="square" rtlCol="0"/>
          <a:lstStyle>
            <a:lvl1pPr algn="l" indent="0" marL="0">
              <a:buNone/>
              <a:defRPr lang="en-US" sz="3000"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4572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4572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365760"/>
            <a:ext cx="3657600" cy="274320"/>
          </a:xfrm>
          <a:prstGeom prst="rect">
            <a:avLst/>
          </a:prstGeom>
          <a:noFill/>
          <a:ln/>
        </p:spPr>
        <p:txBody>
          <a:bodyPr wrap="square" lIns="0" tIns="0" rIns="0" bIns="0" rtlCol="0" anchor="ctr"/>
          <a:lstStyle/>
          <a:p>
            <a:pPr indent="0" marL="0">
              <a:buNone/>
            </a:pPr>
            <a:r>
              <a:rPr lang="en-US" sz="1200" dirty="0">
                <a:solidFill>
                  <a:schemeClr val="tx1"/>
                </a:solidFill>
              </a:rPr>
              <a:t>REVIEW - 3</a:t>
            </a:r>
            <a:endParaRPr lang="en-US" sz="1200" dirty="0"/>
          </a:p>
        </p:txBody>
      </p:sp>
      <p:sp>
        <p:nvSpPr>
          <p:cNvPr id="3" name="Deck title"/>
          <p:cNvSpPr txBox="1"/>
          <p:nvPr/>
        </p:nvSpPr>
        <p:spPr>
          <a:xfrm>
            <a:off x="457200" y="822960"/>
            <a:ext cx="5120640" cy="2286000"/>
          </a:xfrm>
          <a:prstGeom prst="rect">
            <a:avLst/>
          </a:prstGeom>
          <a:noFill/>
          <a:ln/>
        </p:spPr>
        <p:txBody>
          <a:bodyPr wrap="square" lIns="0" tIns="0" rIns="0" bIns="0" rtlCol="0" anchor="t"/>
          <a:lstStyle/>
          <a:p>
            <a:pPr indent="0" marL="0">
              <a:buNone/>
            </a:pPr>
            <a:r>
              <a:rPr lang="en-US" sz="3600" dirty="0">
                <a:solidFill>
                  <a:schemeClr val="tx1"/>
                </a:solidFill>
              </a:rPr>
              <a:t>Project 34:</a:t>
            </a:r>
            <a:endParaRPr lang="en-US" sz="3600" dirty="0"/>
          </a:p>
          <a:p>
            <a:pPr indent="0" marL="0">
              <a:buNone/>
            </a:pPr>
            <a:r>
              <a:rPr lang="en-US" sz="3600" dirty="0">
                <a:solidFill>
                  <a:schemeClr val="tx1"/>
                </a:solidFill>
              </a:rPr>
              <a:t>Online Course Database Management System</a:t>
            </a:r>
            <a:endParaRPr lang="en-US" sz="3600" dirty="0"/>
          </a:p>
        </p:txBody>
      </p:sp>
      <p:sp>
        <p:nvSpPr>
          <p:cNvPr id="4" name="Text 2"/>
          <p:cNvSpPr txBox="1"/>
          <p:nvPr/>
        </p:nvSpPr>
        <p:spPr>
          <a:xfrm>
            <a:off x="457200" y="3840480"/>
            <a:ext cx="3200400" cy="640080"/>
          </a:xfrm>
          <a:prstGeom prst="rect">
            <a:avLst/>
          </a:prstGeom>
          <a:noFill/>
          <a:ln/>
        </p:spPr>
        <p:txBody>
          <a:bodyPr wrap="square" lIns="0" tIns="0" rIns="0" bIns="0" rtlCol="0" anchor="ctr"/>
          <a:lstStyle/>
          <a:p>
            <a:pPr indent="0" marL="0">
              <a:buNone/>
            </a:pPr>
            <a:r>
              <a:rPr lang="en-US" sz="1400" dirty="0">
                <a:solidFill>
                  <a:schemeClr val="tx1"/>
                </a:solidFill>
              </a:rPr>
              <a:t>By Joy Peswani</a:t>
            </a:r>
            <a:endParaRPr lang="en-US" sz="1400" dirty="0"/>
          </a:p>
          <a:p>
            <a:pPr indent="0" marL="0">
              <a:buNone/>
            </a:pPr>
            <a:r>
              <a:rPr lang="en-US" sz="1400" dirty="0">
                <a:solidFill>
                  <a:schemeClr val="tx1"/>
                </a:solidFill>
              </a:rPr>
              <a:t>25WU0102110</a:t>
            </a:r>
            <a:endParaRPr lang="en-US" sz="1400" dirty="0"/>
          </a:p>
        </p:txBody>
      </p:sp>
      <p:sp>
        <p:nvSpPr>
          <p:cNvPr id="5" name="motif circle 1"/>
          <p:cNvSpPr/>
          <p:nvPr/>
        </p:nvSpPr>
        <p:spPr>
          <a:xfrm>
            <a:off x="4754880" y="4069080"/>
            <a:ext cx="731520" cy="731520"/>
          </a:xfrm>
          <a:prstGeom prst="ellipse">
            <a:avLst/>
          </a:prstGeom>
          <a:solidFill>
            <a:schemeClr val="accent1">
              <a:alpha val="0"/>
            </a:schemeClr>
          </a:solidFill>
          <a:ln w="12700">
            <a:solidFill>
              <a:schemeClr val="accent1"/>
            </a:solidFill>
            <a:prstDash val="solid"/>
          </a:ln>
        </p:spPr>
      </p:sp>
      <p:sp>
        <p:nvSpPr>
          <p:cNvPr id="6" name="motif circle 2"/>
          <p:cNvSpPr/>
          <p:nvPr/>
        </p:nvSpPr>
        <p:spPr>
          <a:xfrm>
            <a:off x="5376672" y="4069080"/>
            <a:ext cx="731520" cy="731520"/>
          </a:xfrm>
          <a:prstGeom prst="ellipse">
            <a:avLst/>
          </a:prstGeom>
          <a:solidFill>
            <a:schemeClr val="accent1">
              <a:alpha val="0"/>
            </a:schemeClr>
          </a:solidFill>
          <a:ln w="12700">
            <a:solidFill>
              <a:schemeClr val="accent1"/>
            </a:solidFill>
            <a:prstDash val="solid"/>
          </a:ln>
        </p:spPr>
      </p:sp>
      <p:sp>
        <p:nvSpPr>
          <p:cNvPr id="7" name="motif circle 3"/>
          <p:cNvSpPr/>
          <p:nvPr/>
        </p:nvSpPr>
        <p:spPr>
          <a:xfrm>
            <a:off x="5998464" y="4069080"/>
            <a:ext cx="731520" cy="731520"/>
          </a:xfrm>
          <a:prstGeom prst="ellipse">
            <a:avLst/>
          </a:prstGeom>
          <a:solidFill>
            <a:schemeClr val="accent1">
              <a:alpha val="0"/>
            </a:schemeClr>
          </a:solidFill>
          <a:ln w="12700">
            <a:solidFill>
              <a:schemeClr val="accent1"/>
            </a:solidFill>
            <a:prstDash val="solid"/>
          </a:ln>
        </p:spPr>
      </p:sp>
      <p:pic>
        <p:nvPicPr>
          <p:cNvPr id="8" name="Admin dashboard preview" descr="Admin dashboard preview">    </p:cNvPr>
          <p:cNvPicPr>
            <a:picLocks noChangeAspect="1"/>
          </p:cNvPicPr>
          <p:nvPr/>
        </p:nvPicPr>
        <p:blipFill>
          <a:blip r:embed="rId1"/>
          <a:stretch>
            <a:fillRect/>
          </a:stretch>
        </p:blipFill>
        <p:spPr>
          <a:xfrm>
            <a:off x="6217920" y="1463040"/>
            <a:ext cx="2468880" cy="2140709"/>
          </a:xfrm>
          <a:prstGeom prst="rect">
            <a:avLst/>
          </a:prstGeom>
          <a:effectLst>
            <a:outerShdw sx="100000" sy="100000" kx="0" ky="0" algn="bl" rotWithShape="0" blurRad="101600" dist="38100" dir="5400000">
              <a:srgbClr val="000000">
                <a:alpha val="25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680960" cy="685800"/>
          </a:xfrm>
          <a:prstGeom prst="rect">
            <a:avLst/>
          </a:prstGeom>
          <a:noFill/>
          <a:ln/>
        </p:spPr>
        <p:txBody>
          <a:bodyPr wrap="square" lIns="0" tIns="0" rIns="0" bIns="0" rtlCol="0" anchor="ctr"/>
          <a:lstStyle/>
          <a:p>
            <a:pPr algn="l" indent="0" marL="0">
              <a:buNone/>
            </a:pPr>
            <a:r>
              <a:rPr lang="en-US" sz="3000" dirty="0">
                <a:solidFill>
                  <a:schemeClr val="tx1"/>
                </a:solidFill>
              </a:rPr>
              <a:t>The complete system</a:t>
            </a:r>
            <a:endParaRPr lang="en-US" sz="3000" dirty="0"/>
          </a:p>
        </p:txBody>
      </p:sp>
      <p:sp>
        <p:nvSpPr>
          <p:cNvPr id="3" name="motif circle 1"/>
          <p:cNvSpPr/>
          <p:nvPr/>
        </p:nvSpPr>
        <p:spPr>
          <a:xfrm>
            <a:off x="7726680" y="4617720"/>
            <a:ext cx="365760" cy="365760"/>
          </a:xfrm>
          <a:prstGeom prst="ellipse">
            <a:avLst/>
          </a:prstGeom>
          <a:solidFill>
            <a:schemeClr val="accent1">
              <a:alpha val="0"/>
            </a:schemeClr>
          </a:solidFill>
          <a:ln w="12700">
            <a:solidFill>
              <a:schemeClr val="accent1"/>
            </a:solidFill>
            <a:prstDash val="solid"/>
          </a:ln>
        </p:spPr>
      </p:sp>
      <p:sp>
        <p:nvSpPr>
          <p:cNvPr id="4" name="motif circle 2"/>
          <p:cNvSpPr/>
          <p:nvPr/>
        </p:nvSpPr>
        <p:spPr>
          <a:xfrm>
            <a:off x="8037576" y="4617720"/>
            <a:ext cx="365760" cy="365760"/>
          </a:xfrm>
          <a:prstGeom prst="ellipse">
            <a:avLst/>
          </a:prstGeom>
          <a:solidFill>
            <a:schemeClr val="accent1">
              <a:alpha val="0"/>
            </a:schemeClr>
          </a:solidFill>
          <a:ln w="12700">
            <a:solidFill>
              <a:schemeClr val="accent1"/>
            </a:solidFill>
            <a:prstDash val="solid"/>
          </a:ln>
        </p:spPr>
      </p:sp>
      <p:sp>
        <p:nvSpPr>
          <p:cNvPr id="5" name="motif circle 3"/>
          <p:cNvSpPr/>
          <p:nvPr/>
        </p:nvSpPr>
        <p:spPr>
          <a:xfrm>
            <a:off x="8348472" y="4617720"/>
            <a:ext cx="365760" cy="365760"/>
          </a:xfrm>
          <a:prstGeom prst="ellipse">
            <a:avLst/>
          </a:prstGeom>
          <a:solidFill>
            <a:schemeClr val="accent1">
              <a:alpha val="0"/>
            </a:schemeClr>
          </a:solidFill>
          <a:ln w="12700">
            <a:solidFill>
              <a:schemeClr val="accent1"/>
            </a:solidFill>
            <a:prstDash val="solid"/>
          </a:ln>
        </p:spPr>
      </p:sp>
      <p:sp>
        <p:nvSpPr>
          <p:cNvPr id="7" name="roadmap card 1"/>
          <p:cNvSpPr/>
          <p:nvPr/>
        </p:nvSpPr>
        <p:spPr>
          <a:xfrm>
            <a:off x="457200" y="1188720"/>
            <a:ext cx="2606040" cy="2834640"/>
          </a:xfrm>
          <a:prstGeom prst="roundRect">
            <a:avLst>
              <a:gd name="adj" fmla="val 2807"/>
            </a:avLst>
          </a:prstGeom>
          <a:solidFill>
            <a:schemeClr val="bg1"/>
          </a:solidFill>
          <a:ln w="9525">
            <a:solidFill>
              <a:srgbClr val="DDE3E8"/>
            </a:solidFill>
            <a:prstDash val="solid"/>
          </a:ln>
        </p:spPr>
      </p:sp>
      <p:sp>
        <p:nvSpPr>
          <p:cNvPr id="8" name="Text 5"/>
          <p:cNvSpPr txBox="1"/>
          <p:nvPr/>
        </p:nvSpPr>
        <p:spPr>
          <a:xfrm>
            <a:off x="685800" y="1371600"/>
            <a:ext cx="2194560" cy="274320"/>
          </a:xfrm>
          <a:prstGeom prst="rect">
            <a:avLst/>
          </a:prstGeom>
          <a:noFill/>
          <a:ln/>
        </p:spPr>
        <p:txBody>
          <a:bodyPr wrap="square" lIns="0" tIns="0" rIns="0" bIns="0" rtlCol="0" anchor="ctr"/>
          <a:lstStyle/>
          <a:p>
            <a:pPr indent="0" marL="0">
              <a:buNone/>
            </a:pPr>
            <a:r>
              <a:rPr lang="en-US" sz="1200" b="1" dirty="0">
                <a:solidFill>
                  <a:schemeClr val="tx2"/>
                </a:solidFill>
              </a:rPr>
              <a:t>REVIEW 1</a:t>
            </a:r>
            <a:endParaRPr lang="en-US" sz="1200" dirty="0"/>
          </a:p>
        </p:txBody>
      </p:sp>
      <p:sp>
        <p:nvSpPr>
          <p:cNvPr id="9" name="pill"/>
          <p:cNvSpPr/>
          <p:nvPr/>
        </p:nvSpPr>
        <p:spPr>
          <a:xfrm>
            <a:off x="685800" y="1737360"/>
            <a:ext cx="1005840" cy="237744"/>
          </a:xfrm>
          <a:prstGeom prst="roundRect">
            <a:avLst>
              <a:gd name="adj" fmla="val 50000"/>
            </a:avLst>
          </a:prstGeom>
          <a:solidFill>
            <a:schemeClr val="accent2"/>
          </a:solidFill>
          <a:ln w="6350">
            <a:solidFill>
              <a:schemeClr val="accent2"/>
            </a:solidFill>
            <a:prstDash val="solid"/>
          </a:ln>
        </p:spPr>
      </p:sp>
      <p:sp>
        <p:nvSpPr>
          <p:cNvPr id="10" name="Text 7"/>
          <p:cNvSpPr txBox="1"/>
          <p:nvPr/>
        </p:nvSpPr>
        <p:spPr>
          <a:xfrm>
            <a:off x="685800" y="1737360"/>
            <a:ext cx="1005840" cy="237744"/>
          </a:xfrm>
          <a:prstGeom prst="rect">
            <a:avLst/>
          </a:prstGeom>
          <a:noFill/>
          <a:ln/>
        </p:spPr>
        <p:txBody>
          <a:bodyPr wrap="square" lIns="0" tIns="0" rIns="0" bIns="0" rtlCol="0" anchor="ctr"/>
          <a:lstStyle/>
          <a:p>
            <a:pPr algn="ctr" indent="0" marL="0">
              <a:buNone/>
            </a:pPr>
            <a:r>
              <a:rPr lang="en-US" sz="1000" b="1" dirty="0">
                <a:solidFill>
                  <a:schemeClr val="bg1"/>
                </a:solidFill>
              </a:rPr>
              <a:t>Done</a:t>
            </a:r>
            <a:endParaRPr lang="en-US" sz="1000" dirty="0"/>
          </a:p>
        </p:txBody>
      </p:sp>
      <p:sp>
        <p:nvSpPr>
          <p:cNvPr id="11" name="Text 8"/>
          <p:cNvSpPr txBox="1"/>
          <p:nvPr/>
        </p:nvSpPr>
        <p:spPr>
          <a:xfrm>
            <a:off x="685800" y="2148840"/>
            <a:ext cx="2194560" cy="17373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Problem, scope, users</a:t>
            </a:r>
            <a:endParaRPr lang="en-US" sz="1400" dirty="0"/>
          </a:p>
          <a:p>
            <a:pPr marL="342900" indent="-342900">
              <a:spcAft>
                <a:spcPts val="800"/>
              </a:spcAft>
              <a:buSzPct val="100000"/>
              <a:buChar char="•"/>
            </a:pPr>
            <a:r>
              <a:rPr lang="en-US" sz="1400" dirty="0">
                <a:solidFill>
                  <a:schemeClr val="tx1"/>
                </a:solidFill>
              </a:rPr>
              <a:t>ER diagram</a:t>
            </a:r>
            <a:endParaRPr lang="en-US" sz="1400" dirty="0"/>
          </a:p>
          <a:p>
            <a:pPr marL="342900" indent="-342900">
              <a:spcAft>
                <a:spcPts val="800"/>
              </a:spcAft>
              <a:buSzPct val="100000"/>
              <a:buChar char="•"/>
            </a:pPr>
            <a:r>
              <a:rPr lang="en-US" sz="1400" dirty="0">
                <a:solidFill>
                  <a:schemeClr val="tx1"/>
                </a:solidFill>
              </a:rPr>
              <a:t>Initial schema</a:t>
            </a:r>
            <a:endParaRPr lang="en-US" sz="1400" dirty="0"/>
          </a:p>
        </p:txBody>
      </p:sp>
      <p:sp>
        <p:nvSpPr>
          <p:cNvPr id="12" name="roadmap card 2"/>
          <p:cNvSpPr/>
          <p:nvPr/>
        </p:nvSpPr>
        <p:spPr>
          <a:xfrm>
            <a:off x="3246120" y="1188720"/>
            <a:ext cx="2606040" cy="2834640"/>
          </a:xfrm>
          <a:prstGeom prst="roundRect">
            <a:avLst>
              <a:gd name="adj" fmla="val 2807"/>
            </a:avLst>
          </a:prstGeom>
          <a:solidFill>
            <a:schemeClr val="bg1"/>
          </a:solidFill>
          <a:ln w="9525">
            <a:solidFill>
              <a:srgbClr val="DDE3E8"/>
            </a:solidFill>
            <a:prstDash val="solid"/>
          </a:ln>
        </p:spPr>
      </p:sp>
      <p:sp>
        <p:nvSpPr>
          <p:cNvPr id="13" name="Text 10"/>
          <p:cNvSpPr txBox="1"/>
          <p:nvPr/>
        </p:nvSpPr>
        <p:spPr>
          <a:xfrm>
            <a:off x="3474720" y="1371600"/>
            <a:ext cx="2194560" cy="274320"/>
          </a:xfrm>
          <a:prstGeom prst="rect">
            <a:avLst/>
          </a:prstGeom>
          <a:noFill/>
          <a:ln/>
        </p:spPr>
        <p:txBody>
          <a:bodyPr wrap="square" lIns="0" tIns="0" rIns="0" bIns="0" rtlCol="0" anchor="ctr"/>
          <a:lstStyle/>
          <a:p>
            <a:pPr indent="0" marL="0">
              <a:buNone/>
            </a:pPr>
            <a:r>
              <a:rPr lang="en-US" sz="1200" b="1" dirty="0">
                <a:solidFill>
                  <a:schemeClr val="tx2"/>
                </a:solidFill>
              </a:rPr>
              <a:t>REVIEW 2</a:t>
            </a:r>
            <a:endParaRPr lang="en-US" sz="1200" dirty="0"/>
          </a:p>
        </p:txBody>
      </p:sp>
      <p:sp>
        <p:nvSpPr>
          <p:cNvPr id="14" name="pill"/>
          <p:cNvSpPr/>
          <p:nvPr/>
        </p:nvSpPr>
        <p:spPr>
          <a:xfrm>
            <a:off x="3474720" y="1737360"/>
            <a:ext cx="1005840" cy="237744"/>
          </a:xfrm>
          <a:prstGeom prst="roundRect">
            <a:avLst>
              <a:gd name="adj" fmla="val 50000"/>
            </a:avLst>
          </a:prstGeom>
          <a:solidFill>
            <a:schemeClr val="accent2"/>
          </a:solidFill>
          <a:ln w="6350">
            <a:solidFill>
              <a:schemeClr val="accent2"/>
            </a:solidFill>
            <a:prstDash val="solid"/>
          </a:ln>
        </p:spPr>
      </p:sp>
      <p:sp>
        <p:nvSpPr>
          <p:cNvPr id="15" name="Text 12"/>
          <p:cNvSpPr txBox="1"/>
          <p:nvPr/>
        </p:nvSpPr>
        <p:spPr>
          <a:xfrm>
            <a:off x="3474720" y="1737360"/>
            <a:ext cx="1005840" cy="237744"/>
          </a:xfrm>
          <a:prstGeom prst="rect">
            <a:avLst/>
          </a:prstGeom>
          <a:noFill/>
          <a:ln/>
        </p:spPr>
        <p:txBody>
          <a:bodyPr wrap="square" lIns="0" tIns="0" rIns="0" bIns="0" rtlCol="0" anchor="ctr"/>
          <a:lstStyle/>
          <a:p>
            <a:pPr algn="ctr" indent="0" marL="0">
              <a:buNone/>
            </a:pPr>
            <a:r>
              <a:rPr lang="en-US" sz="1000" b="1" dirty="0">
                <a:solidFill>
                  <a:schemeClr val="bg1"/>
                </a:solidFill>
              </a:rPr>
              <a:t>Done</a:t>
            </a:r>
            <a:endParaRPr lang="en-US" sz="1000" dirty="0"/>
          </a:p>
        </p:txBody>
      </p:sp>
      <p:sp>
        <p:nvSpPr>
          <p:cNvPr id="16" name="Text 13"/>
          <p:cNvSpPr txBox="1"/>
          <p:nvPr/>
        </p:nvSpPr>
        <p:spPr>
          <a:xfrm>
            <a:off x="3474720" y="2148840"/>
            <a:ext cx="2194560" cy="17373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3NF schema, DDL, data</a:t>
            </a:r>
            <a:endParaRPr lang="en-US" sz="1400" dirty="0"/>
          </a:p>
          <a:p>
            <a:pPr marL="342900" indent="-342900">
              <a:spcAft>
                <a:spcPts val="800"/>
              </a:spcAft>
              <a:buSzPct val="100000"/>
              <a:buChar char="•"/>
            </a:pPr>
            <a:r>
              <a:rPr lang="en-US" sz="1400" dirty="0">
                <a:solidFill>
                  <a:schemeClr val="tx1"/>
                </a:solidFill>
              </a:rPr>
              <a:t>SQL queries and views</a:t>
            </a:r>
            <a:endParaRPr lang="en-US" sz="1400" dirty="0"/>
          </a:p>
          <a:p>
            <a:pPr marL="342900" indent="-342900">
              <a:spcAft>
                <a:spcPts val="800"/>
              </a:spcAft>
              <a:buSzPct val="100000"/>
              <a:buChar char="•"/>
            </a:pPr>
            <a:r>
              <a:rPr lang="en-US" sz="1400" dirty="0">
                <a:solidFill>
                  <a:schemeClr val="tx1"/>
                </a:solidFill>
              </a:rPr>
              <a:t>Learner mode</a:t>
            </a:r>
            <a:endParaRPr lang="en-US" sz="1400" dirty="0"/>
          </a:p>
          <a:p>
            <a:pPr marL="342900" indent="-342900">
              <a:spcAft>
                <a:spcPts val="800"/>
              </a:spcAft>
              <a:buSzPct val="100000"/>
              <a:buChar char="•"/>
            </a:pPr>
            <a:r>
              <a:rPr lang="en-US" sz="1400" dirty="0">
                <a:solidFill>
                  <a:schemeClr val="tx1"/>
                </a:solidFill>
              </a:rPr>
              <a:t>Instructor mode</a:t>
            </a:r>
            <a:endParaRPr lang="en-US" sz="1400" dirty="0"/>
          </a:p>
        </p:txBody>
      </p:sp>
      <p:sp>
        <p:nvSpPr>
          <p:cNvPr id="17" name="roadmap card 3"/>
          <p:cNvSpPr/>
          <p:nvPr/>
        </p:nvSpPr>
        <p:spPr>
          <a:xfrm>
            <a:off x="6035040" y="1188720"/>
            <a:ext cx="2606040" cy="2834640"/>
          </a:xfrm>
          <a:prstGeom prst="roundRect">
            <a:avLst>
              <a:gd name="adj" fmla="val 2807"/>
            </a:avLst>
          </a:prstGeom>
          <a:solidFill>
            <a:schemeClr val="bg1"/>
          </a:solidFill>
          <a:ln w="9525">
            <a:solidFill>
              <a:srgbClr val="DDE3E8"/>
            </a:solidFill>
            <a:prstDash val="solid"/>
          </a:ln>
        </p:spPr>
      </p:sp>
      <p:sp>
        <p:nvSpPr>
          <p:cNvPr id="18" name="Text 15"/>
          <p:cNvSpPr txBox="1"/>
          <p:nvPr/>
        </p:nvSpPr>
        <p:spPr>
          <a:xfrm>
            <a:off x="6263640" y="1371600"/>
            <a:ext cx="2194560" cy="274320"/>
          </a:xfrm>
          <a:prstGeom prst="rect">
            <a:avLst/>
          </a:prstGeom>
          <a:noFill/>
          <a:ln/>
        </p:spPr>
        <p:txBody>
          <a:bodyPr wrap="square" lIns="0" tIns="0" rIns="0" bIns="0" rtlCol="0" anchor="ctr"/>
          <a:lstStyle/>
          <a:p>
            <a:pPr indent="0" marL="0">
              <a:buNone/>
            </a:pPr>
            <a:r>
              <a:rPr lang="en-US" sz="1200" b="1" dirty="0">
                <a:solidFill>
                  <a:schemeClr val="tx2"/>
                </a:solidFill>
              </a:rPr>
              <a:t>REVIEW 3</a:t>
            </a:r>
            <a:endParaRPr lang="en-US" sz="1200" dirty="0"/>
          </a:p>
        </p:txBody>
      </p:sp>
      <p:sp>
        <p:nvSpPr>
          <p:cNvPr id="19" name="pill"/>
          <p:cNvSpPr/>
          <p:nvPr/>
        </p:nvSpPr>
        <p:spPr>
          <a:xfrm>
            <a:off x="6263640" y="1737360"/>
            <a:ext cx="1005840" cy="237744"/>
          </a:xfrm>
          <a:prstGeom prst="roundRect">
            <a:avLst>
              <a:gd name="adj" fmla="val 50000"/>
            </a:avLst>
          </a:prstGeom>
          <a:solidFill>
            <a:schemeClr val="accent1"/>
          </a:solidFill>
          <a:ln w="6350">
            <a:solidFill>
              <a:schemeClr val="accent1"/>
            </a:solidFill>
            <a:prstDash val="solid"/>
          </a:ln>
        </p:spPr>
      </p:sp>
      <p:sp>
        <p:nvSpPr>
          <p:cNvPr id="20" name="Text 17"/>
          <p:cNvSpPr txBox="1"/>
          <p:nvPr/>
        </p:nvSpPr>
        <p:spPr>
          <a:xfrm>
            <a:off x="6263640" y="1737360"/>
            <a:ext cx="1005840" cy="237744"/>
          </a:xfrm>
          <a:prstGeom prst="rect">
            <a:avLst/>
          </a:prstGeom>
          <a:noFill/>
          <a:ln/>
        </p:spPr>
        <p:txBody>
          <a:bodyPr wrap="square" lIns="0" tIns="0" rIns="0" bIns="0" rtlCol="0" anchor="ctr"/>
          <a:lstStyle/>
          <a:p>
            <a:pPr algn="ctr" indent="0" marL="0">
              <a:buNone/>
            </a:pPr>
            <a:r>
              <a:rPr lang="en-US" sz="1000" b="1" dirty="0">
                <a:solidFill>
                  <a:schemeClr val="bg1"/>
                </a:solidFill>
              </a:rPr>
              <a:t>This review</a:t>
            </a:r>
            <a:endParaRPr lang="en-US" sz="1000" dirty="0"/>
          </a:p>
        </p:txBody>
      </p:sp>
      <p:sp>
        <p:nvSpPr>
          <p:cNvPr id="21" name="Text 18"/>
          <p:cNvSpPr txBox="1"/>
          <p:nvPr/>
        </p:nvSpPr>
        <p:spPr>
          <a:xfrm>
            <a:off x="6263640" y="2148840"/>
            <a:ext cx="2194560" cy="17373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Admin mode with password</a:t>
            </a:r>
            <a:endParaRPr lang="en-US" sz="1400" dirty="0"/>
          </a:p>
          <a:p>
            <a:pPr marL="342900" indent="-342900">
              <a:spcAft>
                <a:spcPts val="800"/>
              </a:spcAft>
              <a:buSzPct val="100000"/>
              <a:buChar char="•"/>
            </a:pPr>
            <a:r>
              <a:rPr lang="en-US" sz="1400" dirty="0">
                <a:solidFill>
                  <a:schemeClr val="tx1"/>
                </a:solidFill>
              </a:rPr>
              <a:t>CRUD on all 14 tables</a:t>
            </a:r>
            <a:endParaRPr lang="en-US" sz="1400" dirty="0"/>
          </a:p>
          <a:p>
            <a:pPr marL="342900" indent="-342900">
              <a:spcAft>
                <a:spcPts val="800"/>
              </a:spcAft>
              <a:buSzPct val="100000"/>
              <a:buChar char="•"/>
            </a:pPr>
            <a:r>
              <a:rPr lang="en-US" sz="1400" dirty="0">
                <a:solidFill>
                  <a:schemeClr val="tx1"/>
                </a:solidFill>
              </a:rPr>
              <a:t>Reports, SQL console, certificates</a:t>
            </a:r>
            <a:endParaRPr lang="en-US" sz="1400" dirty="0"/>
          </a:p>
          <a:p>
            <a:pPr marL="342900" indent="-342900">
              <a:spcAft>
                <a:spcPts val="800"/>
              </a:spcAft>
              <a:buSzPct val="100000"/>
              <a:buChar char="•"/>
            </a:pPr>
            <a:r>
              <a:rPr lang="en-US" sz="1400" dirty="0">
                <a:solidFill>
                  <a:schemeClr val="tx1"/>
                </a:solidFill>
              </a:rPr>
              <a:t>Testing and final demo</a:t>
            </a:r>
            <a:endParaRPr lang="en-US" sz="1400" dirty="0"/>
          </a:p>
        </p:txBody>
      </p:sp>
      <p:sp>
        <p:nvSpPr>
          <p:cNvPr id="25" name="Slide Number Placeholder 0"/>
          <p:cNvSpPr>
            <a:spLocks noGrp="1"/>
          </p:cNvSpPr>
          <p:nvPr>
            <p:ph type="sldNum" sz="quarter" idx="4294967295"/>
          </p:nvPr>
        </p:nvSpPr>
        <p:spPr>
          <a:xfrm>
            <a:off x="4572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680960" cy="685800"/>
          </a:xfrm>
          <a:prstGeom prst="rect">
            <a:avLst/>
          </a:prstGeom>
          <a:noFill/>
          <a:ln/>
        </p:spPr>
        <p:txBody>
          <a:bodyPr wrap="square" lIns="0" tIns="0" rIns="0" bIns="0" rtlCol="0" anchor="ctr"/>
          <a:lstStyle/>
          <a:p>
            <a:pPr algn="l" indent="0" marL="0">
              <a:buNone/>
            </a:pPr>
            <a:r>
              <a:rPr lang="en-US" sz="3000" dirty="0">
                <a:solidFill>
                  <a:schemeClr val="tx1"/>
                </a:solidFill>
              </a:rPr>
              <a:t>System architecture</a:t>
            </a:r>
            <a:endParaRPr lang="en-US" sz="3000" dirty="0"/>
          </a:p>
        </p:txBody>
      </p:sp>
      <p:sp>
        <p:nvSpPr>
          <p:cNvPr id="3" name="motif circle 1"/>
          <p:cNvSpPr/>
          <p:nvPr/>
        </p:nvSpPr>
        <p:spPr>
          <a:xfrm>
            <a:off x="7726680" y="4617720"/>
            <a:ext cx="365760" cy="365760"/>
          </a:xfrm>
          <a:prstGeom prst="ellipse">
            <a:avLst/>
          </a:prstGeom>
          <a:solidFill>
            <a:schemeClr val="accent1">
              <a:alpha val="0"/>
            </a:schemeClr>
          </a:solidFill>
          <a:ln w="12700">
            <a:solidFill>
              <a:schemeClr val="accent1"/>
            </a:solidFill>
            <a:prstDash val="solid"/>
          </a:ln>
        </p:spPr>
      </p:sp>
      <p:sp>
        <p:nvSpPr>
          <p:cNvPr id="4" name="motif circle 2"/>
          <p:cNvSpPr/>
          <p:nvPr/>
        </p:nvSpPr>
        <p:spPr>
          <a:xfrm>
            <a:off x="8037576" y="4617720"/>
            <a:ext cx="365760" cy="365760"/>
          </a:xfrm>
          <a:prstGeom prst="ellipse">
            <a:avLst/>
          </a:prstGeom>
          <a:solidFill>
            <a:schemeClr val="accent1">
              <a:alpha val="0"/>
            </a:schemeClr>
          </a:solidFill>
          <a:ln w="12700">
            <a:solidFill>
              <a:schemeClr val="accent1"/>
            </a:solidFill>
            <a:prstDash val="solid"/>
          </a:ln>
        </p:spPr>
      </p:sp>
      <p:sp>
        <p:nvSpPr>
          <p:cNvPr id="5" name="motif circle 3"/>
          <p:cNvSpPr/>
          <p:nvPr/>
        </p:nvSpPr>
        <p:spPr>
          <a:xfrm>
            <a:off x="8348472" y="4617720"/>
            <a:ext cx="365760" cy="365760"/>
          </a:xfrm>
          <a:prstGeom prst="ellipse">
            <a:avLst/>
          </a:prstGeom>
          <a:solidFill>
            <a:schemeClr val="accent1">
              <a:alpha val="0"/>
            </a:schemeClr>
          </a:solidFill>
          <a:ln w="12700">
            <a:solidFill>
              <a:schemeClr val="accent1"/>
            </a:solidFill>
            <a:prstDash val="solid"/>
          </a:ln>
        </p:spPr>
      </p:sp>
      <p:sp>
        <p:nvSpPr>
          <p:cNvPr id="7" name="arch Browser"/>
          <p:cNvSpPr/>
          <p:nvPr/>
        </p:nvSpPr>
        <p:spPr>
          <a:xfrm>
            <a:off x="457200" y="1188720"/>
            <a:ext cx="2377440" cy="1920240"/>
          </a:xfrm>
          <a:prstGeom prst="roundRect">
            <a:avLst>
              <a:gd name="adj" fmla="val 3810"/>
            </a:avLst>
          </a:prstGeom>
          <a:solidFill>
            <a:schemeClr val="bg1"/>
          </a:solidFill>
          <a:ln w="9525">
            <a:solidFill>
              <a:srgbClr val="DDE3E8"/>
            </a:solidFill>
            <a:prstDash val="solid"/>
          </a:ln>
        </p:spPr>
      </p:sp>
      <p:sp>
        <p:nvSpPr>
          <p:cNvPr id="8" name="Text 5"/>
          <p:cNvSpPr txBox="1"/>
          <p:nvPr/>
        </p:nvSpPr>
        <p:spPr>
          <a:xfrm>
            <a:off x="640080" y="1325880"/>
            <a:ext cx="2011680" cy="365760"/>
          </a:xfrm>
          <a:prstGeom prst="rect">
            <a:avLst/>
          </a:prstGeom>
          <a:noFill/>
          <a:ln/>
        </p:spPr>
        <p:txBody>
          <a:bodyPr wrap="square" lIns="0" tIns="0" rIns="0" bIns="0" rtlCol="0" anchor="ctr"/>
          <a:lstStyle/>
          <a:p>
            <a:pPr indent="0" marL="0">
              <a:buNone/>
            </a:pPr>
            <a:r>
              <a:rPr lang="en-US" sz="1800" b="1" dirty="0">
                <a:solidFill>
                  <a:schemeClr val="accent1"/>
                </a:solidFill>
              </a:rPr>
              <a:t>Browser</a:t>
            </a:r>
            <a:endParaRPr lang="en-US" sz="1800" dirty="0"/>
          </a:p>
        </p:txBody>
      </p:sp>
      <p:sp>
        <p:nvSpPr>
          <p:cNvPr id="9" name="Text 6"/>
          <p:cNvSpPr txBox="1"/>
          <p:nvPr/>
        </p:nvSpPr>
        <p:spPr>
          <a:xfrm>
            <a:off x="640080" y="1783080"/>
            <a:ext cx="2011680" cy="12801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Learner mode</a:t>
            </a:r>
            <a:endParaRPr lang="en-US" sz="1300" dirty="0"/>
          </a:p>
          <a:p>
            <a:pPr marL="342900" indent="-342900">
              <a:spcAft>
                <a:spcPts val="800"/>
              </a:spcAft>
              <a:buSzPct val="100000"/>
              <a:buChar char="•"/>
            </a:pPr>
            <a:r>
              <a:rPr lang="en-US" sz="1300" dirty="0">
                <a:solidFill>
                  <a:schemeClr val="tx1"/>
                </a:solidFill>
              </a:rPr>
              <a:t>Instructor mode</a:t>
            </a:r>
            <a:endParaRPr lang="en-US" sz="1300" dirty="0"/>
          </a:p>
          <a:p>
            <a:pPr marL="342900" indent="-342900">
              <a:spcAft>
                <a:spcPts val="800"/>
              </a:spcAft>
              <a:buSzPct val="100000"/>
              <a:buChar char="•"/>
            </a:pPr>
            <a:r>
              <a:rPr lang="en-US" sz="1300" dirty="0">
                <a:solidFill>
                  <a:schemeClr val="tx1"/>
                </a:solidFill>
              </a:rPr>
              <a:t>Admin mode</a:t>
            </a:r>
            <a:endParaRPr lang="en-US" sz="1300" dirty="0"/>
          </a:p>
        </p:txBody>
      </p:sp>
      <p:sp>
        <p:nvSpPr>
          <p:cNvPr id="10" name="arrow 1"/>
          <p:cNvSpPr/>
          <p:nvPr/>
        </p:nvSpPr>
        <p:spPr>
          <a:xfrm>
            <a:off x="2898648" y="1965960"/>
            <a:ext cx="411480" cy="320040"/>
          </a:xfrm>
          <a:prstGeom prst="rightArrow">
            <a:avLst/>
          </a:prstGeom>
          <a:solidFill>
            <a:schemeClr val="accent5"/>
          </a:solidFill>
          <a:ln w="6350">
            <a:solidFill>
              <a:schemeClr val="accent5"/>
            </a:solidFill>
            <a:prstDash val="solid"/>
          </a:ln>
        </p:spPr>
      </p:sp>
      <p:sp>
        <p:nvSpPr>
          <p:cNvPr id="11" name="arch Python Flask app"/>
          <p:cNvSpPr/>
          <p:nvPr/>
        </p:nvSpPr>
        <p:spPr>
          <a:xfrm>
            <a:off x="3383280" y="1188720"/>
            <a:ext cx="2377440" cy="1920240"/>
          </a:xfrm>
          <a:prstGeom prst="roundRect">
            <a:avLst>
              <a:gd name="adj" fmla="val 3810"/>
            </a:avLst>
          </a:prstGeom>
          <a:solidFill>
            <a:schemeClr val="bg1"/>
          </a:solidFill>
          <a:ln w="9525">
            <a:solidFill>
              <a:srgbClr val="DDE3E8"/>
            </a:solidFill>
            <a:prstDash val="solid"/>
          </a:ln>
        </p:spPr>
      </p:sp>
      <p:sp>
        <p:nvSpPr>
          <p:cNvPr id="12" name="Text 9"/>
          <p:cNvSpPr txBox="1"/>
          <p:nvPr/>
        </p:nvSpPr>
        <p:spPr>
          <a:xfrm>
            <a:off x="3566160" y="1325880"/>
            <a:ext cx="2011680" cy="365760"/>
          </a:xfrm>
          <a:prstGeom prst="rect">
            <a:avLst/>
          </a:prstGeom>
          <a:noFill/>
          <a:ln/>
        </p:spPr>
        <p:txBody>
          <a:bodyPr wrap="square" lIns="0" tIns="0" rIns="0" bIns="0" rtlCol="0" anchor="ctr"/>
          <a:lstStyle/>
          <a:p>
            <a:pPr indent="0" marL="0">
              <a:buNone/>
            </a:pPr>
            <a:r>
              <a:rPr lang="en-US" sz="1800" b="1" dirty="0">
                <a:solidFill>
                  <a:schemeClr val="accent1"/>
                </a:solidFill>
              </a:rPr>
              <a:t>Python Flask app</a:t>
            </a:r>
            <a:endParaRPr lang="en-US" sz="1800" dirty="0"/>
          </a:p>
        </p:txBody>
      </p:sp>
      <p:sp>
        <p:nvSpPr>
          <p:cNvPr id="13" name="Text 10"/>
          <p:cNvSpPr txBox="1"/>
          <p:nvPr/>
        </p:nvSpPr>
        <p:spPr>
          <a:xfrm>
            <a:off x="3566160" y="1783080"/>
            <a:ext cx="2011680" cy="12801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Routes for each mode</a:t>
            </a:r>
            <a:endParaRPr lang="en-US" sz="1300" dirty="0"/>
          </a:p>
          <a:p>
            <a:pPr marL="342900" indent="-342900">
              <a:spcAft>
                <a:spcPts val="800"/>
              </a:spcAft>
              <a:buSzPct val="100000"/>
              <a:buChar char="•"/>
            </a:pPr>
            <a:r>
              <a:rPr lang="en-US" sz="1300" dirty="0">
                <a:solidFill>
                  <a:schemeClr val="tx1"/>
                </a:solidFill>
              </a:rPr>
              <a:t>Form validation</a:t>
            </a:r>
            <a:endParaRPr lang="en-US" sz="1300" dirty="0"/>
          </a:p>
          <a:p>
            <a:pPr marL="342900" indent="-342900">
              <a:spcAft>
                <a:spcPts val="800"/>
              </a:spcAft>
              <a:buSzPct val="100000"/>
              <a:buChar char="•"/>
            </a:pPr>
            <a:r>
              <a:rPr lang="en-US" sz="1300" dirty="0">
                <a:solidFill>
                  <a:schemeClr val="tx1"/>
                </a:solidFill>
              </a:rPr>
              <a:t>Session and passwords</a:t>
            </a:r>
            <a:endParaRPr lang="en-US" sz="1300" dirty="0"/>
          </a:p>
        </p:txBody>
      </p:sp>
      <p:sp>
        <p:nvSpPr>
          <p:cNvPr id="14" name="arrow 2"/>
          <p:cNvSpPr/>
          <p:nvPr/>
        </p:nvSpPr>
        <p:spPr>
          <a:xfrm>
            <a:off x="5824728" y="1965960"/>
            <a:ext cx="411480" cy="320040"/>
          </a:xfrm>
          <a:prstGeom prst="rightArrow">
            <a:avLst/>
          </a:prstGeom>
          <a:solidFill>
            <a:schemeClr val="accent5"/>
          </a:solidFill>
          <a:ln w="6350">
            <a:solidFill>
              <a:schemeClr val="accent5"/>
            </a:solidFill>
            <a:prstDash val="solid"/>
          </a:ln>
        </p:spPr>
      </p:sp>
      <p:sp>
        <p:nvSpPr>
          <p:cNvPr id="15" name="arch MySQL 8"/>
          <p:cNvSpPr/>
          <p:nvPr/>
        </p:nvSpPr>
        <p:spPr>
          <a:xfrm>
            <a:off x="6309360" y="1188720"/>
            <a:ext cx="2377440" cy="1920240"/>
          </a:xfrm>
          <a:prstGeom prst="roundRect">
            <a:avLst>
              <a:gd name="adj" fmla="val 3810"/>
            </a:avLst>
          </a:prstGeom>
          <a:solidFill>
            <a:schemeClr val="bg1"/>
          </a:solidFill>
          <a:ln w="9525">
            <a:solidFill>
              <a:srgbClr val="DDE3E8"/>
            </a:solidFill>
            <a:prstDash val="solid"/>
          </a:ln>
        </p:spPr>
      </p:sp>
      <p:sp>
        <p:nvSpPr>
          <p:cNvPr id="16" name="Text 13"/>
          <p:cNvSpPr txBox="1"/>
          <p:nvPr/>
        </p:nvSpPr>
        <p:spPr>
          <a:xfrm>
            <a:off x="6492240" y="1325880"/>
            <a:ext cx="2011680" cy="365760"/>
          </a:xfrm>
          <a:prstGeom prst="rect">
            <a:avLst/>
          </a:prstGeom>
          <a:noFill/>
          <a:ln/>
        </p:spPr>
        <p:txBody>
          <a:bodyPr wrap="square" lIns="0" tIns="0" rIns="0" bIns="0" rtlCol="0" anchor="ctr"/>
          <a:lstStyle/>
          <a:p>
            <a:pPr indent="0" marL="0">
              <a:buNone/>
            </a:pPr>
            <a:r>
              <a:rPr lang="en-US" sz="1800" b="1" dirty="0">
                <a:solidFill>
                  <a:schemeClr val="accent1"/>
                </a:solidFill>
              </a:rPr>
              <a:t>MySQL 8</a:t>
            </a:r>
            <a:endParaRPr lang="en-US" sz="1800" dirty="0"/>
          </a:p>
        </p:txBody>
      </p:sp>
      <p:sp>
        <p:nvSpPr>
          <p:cNvPr id="17" name="Text 14"/>
          <p:cNvSpPr txBox="1"/>
          <p:nvPr/>
        </p:nvSpPr>
        <p:spPr>
          <a:xfrm>
            <a:off x="6492240" y="1783080"/>
            <a:ext cx="2011680" cy="12801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14 tables, 6 views</a:t>
            </a:r>
            <a:endParaRPr lang="en-US" sz="1300" dirty="0"/>
          </a:p>
          <a:p>
            <a:pPr marL="342900" indent="-342900">
              <a:spcAft>
                <a:spcPts val="800"/>
              </a:spcAft>
              <a:buSzPct val="100000"/>
              <a:buChar char="•"/>
            </a:pPr>
            <a:r>
              <a:rPr lang="en-US" sz="1300" dirty="0">
                <a:solidFill>
                  <a:schemeClr val="tx1"/>
                </a:solidFill>
              </a:rPr>
              <a:t>Constraints and triggers</a:t>
            </a:r>
            <a:endParaRPr lang="en-US" sz="1300" dirty="0"/>
          </a:p>
          <a:p>
            <a:pPr marL="342900" indent="-342900">
              <a:spcAft>
                <a:spcPts val="800"/>
              </a:spcAft>
              <a:buSzPct val="100000"/>
              <a:buChar char="•"/>
            </a:pPr>
            <a:r>
              <a:rPr lang="en-US" sz="1300" dirty="0">
                <a:solidFill>
                  <a:schemeClr val="tx1"/>
                </a:solidFill>
              </a:rPr>
              <a:t>course_progress_db</a:t>
            </a:r>
            <a:endParaRPr lang="en-US" sz="1300" dirty="0"/>
          </a:p>
        </p:txBody>
      </p:sp>
      <p:sp>
        <p:nvSpPr>
          <p:cNvPr id="18" name="arch note 1"/>
          <p:cNvSpPr/>
          <p:nvPr/>
        </p:nvSpPr>
        <p:spPr>
          <a:xfrm>
            <a:off x="457200" y="3383280"/>
            <a:ext cx="2606040" cy="1097280"/>
          </a:xfrm>
          <a:prstGeom prst="roundRect">
            <a:avLst>
              <a:gd name="adj" fmla="val 6667"/>
            </a:avLst>
          </a:prstGeom>
          <a:solidFill>
            <a:schemeClr val="bg1"/>
          </a:solidFill>
          <a:ln w="9525">
            <a:solidFill>
              <a:srgbClr val="DDE3E8"/>
            </a:solidFill>
            <a:prstDash val="solid"/>
          </a:ln>
        </p:spPr>
      </p:sp>
      <p:sp>
        <p:nvSpPr>
          <p:cNvPr id="19" name="Text 16"/>
          <p:cNvSpPr txBox="1"/>
          <p:nvPr/>
        </p:nvSpPr>
        <p:spPr>
          <a:xfrm>
            <a:off x="640080" y="3474720"/>
            <a:ext cx="2240280" cy="274320"/>
          </a:xfrm>
          <a:prstGeom prst="rect">
            <a:avLst/>
          </a:prstGeom>
          <a:noFill/>
          <a:ln/>
        </p:spPr>
        <p:txBody>
          <a:bodyPr wrap="square" lIns="0" tIns="0" rIns="0" bIns="0" rtlCol="0" anchor="ctr"/>
          <a:lstStyle/>
          <a:p>
            <a:pPr indent="0" marL="0">
              <a:buNone/>
            </a:pPr>
            <a:r>
              <a:rPr lang="en-US" sz="1400" b="1" dirty="0">
                <a:solidFill>
                  <a:schemeClr val="tx1"/>
                </a:solidFill>
              </a:rPr>
              <a:t>Local app</a:t>
            </a:r>
            <a:endParaRPr lang="en-US" sz="1400" dirty="0"/>
          </a:p>
        </p:txBody>
      </p:sp>
      <p:sp>
        <p:nvSpPr>
          <p:cNvPr id="20" name="Text 17"/>
          <p:cNvSpPr txBox="1"/>
          <p:nvPr/>
        </p:nvSpPr>
        <p:spPr>
          <a:xfrm>
            <a:off x="640080" y="3767328"/>
            <a:ext cx="2240280" cy="640080"/>
          </a:xfrm>
          <a:prstGeom prst="rect">
            <a:avLst/>
          </a:prstGeom>
          <a:noFill/>
          <a:ln/>
        </p:spPr>
        <p:txBody>
          <a:bodyPr wrap="square" lIns="0" tIns="0" rIns="0" bIns="0" rtlCol="0" anchor="t"/>
          <a:lstStyle/>
          <a:p>
            <a:pPr indent="0" marL="0">
              <a:buNone/>
            </a:pPr>
            <a:r>
              <a:rPr lang="en-US" sz="1200" dirty="0">
                <a:solidFill>
                  <a:schemeClr val="tx2"/>
                </a:solidFill>
              </a:rPr>
              <a:t>Runs on port 5001 and opens in the browser from a start script.</a:t>
            </a:r>
            <a:endParaRPr lang="en-US" sz="1200" dirty="0"/>
          </a:p>
        </p:txBody>
      </p:sp>
      <p:sp>
        <p:nvSpPr>
          <p:cNvPr id="21" name="arch note 2"/>
          <p:cNvSpPr/>
          <p:nvPr/>
        </p:nvSpPr>
        <p:spPr>
          <a:xfrm>
            <a:off x="3246120" y="3383280"/>
            <a:ext cx="2606040" cy="1097280"/>
          </a:xfrm>
          <a:prstGeom prst="roundRect">
            <a:avLst>
              <a:gd name="adj" fmla="val 6667"/>
            </a:avLst>
          </a:prstGeom>
          <a:solidFill>
            <a:schemeClr val="bg1"/>
          </a:solidFill>
          <a:ln w="9525">
            <a:solidFill>
              <a:srgbClr val="DDE3E8"/>
            </a:solidFill>
            <a:prstDash val="solid"/>
          </a:ln>
        </p:spPr>
      </p:sp>
      <p:sp>
        <p:nvSpPr>
          <p:cNvPr id="22" name="Text 19"/>
          <p:cNvSpPr txBox="1"/>
          <p:nvPr/>
        </p:nvSpPr>
        <p:spPr>
          <a:xfrm>
            <a:off x="3429000" y="3474720"/>
            <a:ext cx="2240280" cy="274320"/>
          </a:xfrm>
          <a:prstGeom prst="rect">
            <a:avLst/>
          </a:prstGeom>
          <a:noFill/>
          <a:ln/>
        </p:spPr>
        <p:txBody>
          <a:bodyPr wrap="square" lIns="0" tIns="0" rIns="0" bIns="0" rtlCol="0" anchor="ctr"/>
          <a:lstStyle/>
          <a:p>
            <a:pPr indent="0" marL="0">
              <a:buNone/>
            </a:pPr>
            <a:r>
              <a:rPr lang="en-US" sz="1400" b="1" dirty="0">
                <a:solidFill>
                  <a:schemeClr val="tx1"/>
                </a:solidFill>
              </a:rPr>
              <a:t>Settings in .env</a:t>
            </a:r>
            <a:endParaRPr lang="en-US" sz="1400" dirty="0"/>
          </a:p>
        </p:txBody>
      </p:sp>
      <p:sp>
        <p:nvSpPr>
          <p:cNvPr id="23" name="Text 20"/>
          <p:cNvSpPr txBox="1"/>
          <p:nvPr/>
        </p:nvSpPr>
        <p:spPr>
          <a:xfrm>
            <a:off x="3429000" y="3767328"/>
            <a:ext cx="2240280" cy="640080"/>
          </a:xfrm>
          <a:prstGeom prst="rect">
            <a:avLst/>
          </a:prstGeom>
          <a:noFill/>
          <a:ln/>
        </p:spPr>
        <p:txBody>
          <a:bodyPr wrap="square" lIns="0" tIns="0" rIns="0" bIns="0" rtlCol="0" anchor="t"/>
          <a:lstStyle/>
          <a:p>
            <a:pPr indent="0" marL="0">
              <a:buNone/>
            </a:pPr>
            <a:r>
              <a:rPr lang="en-US" sz="1200" dirty="0">
                <a:solidFill>
                  <a:schemeClr val="tx2"/>
                </a:solidFill>
              </a:rPr>
              <a:t>Database login and mode passwords stay out of the page code.</a:t>
            </a:r>
            <a:endParaRPr lang="en-US" sz="1200" dirty="0"/>
          </a:p>
        </p:txBody>
      </p:sp>
      <p:sp>
        <p:nvSpPr>
          <p:cNvPr id="24" name="arch note 3"/>
          <p:cNvSpPr/>
          <p:nvPr/>
        </p:nvSpPr>
        <p:spPr>
          <a:xfrm>
            <a:off x="6035040" y="3383280"/>
            <a:ext cx="2606040" cy="1097280"/>
          </a:xfrm>
          <a:prstGeom prst="roundRect">
            <a:avLst>
              <a:gd name="adj" fmla="val 6667"/>
            </a:avLst>
          </a:prstGeom>
          <a:solidFill>
            <a:schemeClr val="bg1"/>
          </a:solidFill>
          <a:ln w="9525">
            <a:solidFill>
              <a:srgbClr val="DDE3E8"/>
            </a:solidFill>
            <a:prstDash val="solid"/>
          </a:ln>
        </p:spPr>
      </p:sp>
      <p:sp>
        <p:nvSpPr>
          <p:cNvPr id="25" name="Text 22"/>
          <p:cNvSpPr txBox="1"/>
          <p:nvPr/>
        </p:nvSpPr>
        <p:spPr>
          <a:xfrm>
            <a:off x="6217920" y="3474720"/>
            <a:ext cx="2240280" cy="274320"/>
          </a:xfrm>
          <a:prstGeom prst="rect">
            <a:avLst/>
          </a:prstGeom>
          <a:noFill/>
          <a:ln/>
        </p:spPr>
        <p:txBody>
          <a:bodyPr wrap="square" lIns="0" tIns="0" rIns="0" bIns="0" rtlCol="0" anchor="ctr"/>
          <a:lstStyle/>
          <a:p>
            <a:pPr indent="0" marL="0">
              <a:buNone/>
            </a:pPr>
            <a:r>
              <a:rPr lang="en-US" sz="1400" b="1" dirty="0">
                <a:solidFill>
                  <a:schemeClr val="tx1"/>
                </a:solidFill>
              </a:rPr>
              <a:t>One database</a:t>
            </a:r>
            <a:endParaRPr lang="en-US" sz="1400" dirty="0"/>
          </a:p>
        </p:txBody>
      </p:sp>
      <p:sp>
        <p:nvSpPr>
          <p:cNvPr id="26" name="Text 23"/>
          <p:cNvSpPr txBox="1"/>
          <p:nvPr/>
        </p:nvSpPr>
        <p:spPr>
          <a:xfrm>
            <a:off x="6217920" y="3767328"/>
            <a:ext cx="2240280" cy="640080"/>
          </a:xfrm>
          <a:prstGeom prst="rect">
            <a:avLst/>
          </a:prstGeom>
          <a:noFill/>
          <a:ln/>
        </p:spPr>
        <p:txBody>
          <a:bodyPr wrap="square" lIns="0" tIns="0" rIns="0" bIns="0" rtlCol="0" anchor="t"/>
          <a:lstStyle/>
          <a:p>
            <a:pPr indent="0" marL="0">
              <a:buNone/>
            </a:pPr>
            <a:r>
              <a:rPr lang="en-US" sz="1200" dirty="0">
                <a:solidFill>
                  <a:schemeClr val="tx2"/>
                </a:solidFill>
              </a:rPr>
              <a:t>All three modes read and write the same tables.</a:t>
            </a:r>
            <a:endParaRPr lang="en-US" sz="1200" dirty="0"/>
          </a:p>
        </p:txBody>
      </p:sp>
      <p:sp>
        <p:nvSpPr>
          <p:cNvPr id="25" name="Slide Number Placeholder 0"/>
          <p:cNvSpPr>
            <a:spLocks noGrp="1"/>
          </p:cNvSpPr>
          <p:nvPr>
            <p:ph type="sldNum" sz="quarter" idx="4294967295"/>
          </p:nvPr>
        </p:nvSpPr>
        <p:spPr>
          <a:xfrm>
            <a:off x="4572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680960" cy="685800"/>
          </a:xfrm>
          <a:prstGeom prst="rect">
            <a:avLst/>
          </a:prstGeom>
          <a:noFill/>
          <a:ln/>
        </p:spPr>
        <p:txBody>
          <a:bodyPr wrap="square" lIns="0" tIns="0" rIns="0" bIns="0" rtlCol="0" anchor="ctr"/>
          <a:lstStyle/>
          <a:p>
            <a:pPr algn="l" indent="0" marL="0">
              <a:buNone/>
            </a:pPr>
            <a:r>
              <a:rPr lang="en-US" sz="3000" dirty="0">
                <a:solidFill>
                  <a:schemeClr val="tx1"/>
                </a:solidFill>
              </a:rPr>
              <a:t>The final database in numbers</a:t>
            </a:r>
            <a:endParaRPr lang="en-US" sz="3000" dirty="0"/>
          </a:p>
        </p:txBody>
      </p:sp>
      <p:sp>
        <p:nvSpPr>
          <p:cNvPr id="3" name="motif circle 1"/>
          <p:cNvSpPr/>
          <p:nvPr/>
        </p:nvSpPr>
        <p:spPr>
          <a:xfrm>
            <a:off x="7726680" y="4617720"/>
            <a:ext cx="365760" cy="365760"/>
          </a:xfrm>
          <a:prstGeom prst="ellipse">
            <a:avLst/>
          </a:prstGeom>
          <a:solidFill>
            <a:schemeClr val="accent1">
              <a:alpha val="0"/>
            </a:schemeClr>
          </a:solidFill>
          <a:ln w="12700">
            <a:solidFill>
              <a:schemeClr val="accent1"/>
            </a:solidFill>
            <a:prstDash val="solid"/>
          </a:ln>
        </p:spPr>
      </p:sp>
      <p:sp>
        <p:nvSpPr>
          <p:cNvPr id="4" name="motif circle 2"/>
          <p:cNvSpPr/>
          <p:nvPr/>
        </p:nvSpPr>
        <p:spPr>
          <a:xfrm>
            <a:off x="8037576" y="4617720"/>
            <a:ext cx="365760" cy="365760"/>
          </a:xfrm>
          <a:prstGeom prst="ellipse">
            <a:avLst/>
          </a:prstGeom>
          <a:solidFill>
            <a:schemeClr val="accent1">
              <a:alpha val="0"/>
            </a:schemeClr>
          </a:solidFill>
          <a:ln w="12700">
            <a:solidFill>
              <a:schemeClr val="accent1"/>
            </a:solidFill>
            <a:prstDash val="solid"/>
          </a:ln>
        </p:spPr>
      </p:sp>
      <p:sp>
        <p:nvSpPr>
          <p:cNvPr id="5" name="motif circle 3"/>
          <p:cNvSpPr/>
          <p:nvPr/>
        </p:nvSpPr>
        <p:spPr>
          <a:xfrm>
            <a:off x="8348472" y="4617720"/>
            <a:ext cx="365760" cy="365760"/>
          </a:xfrm>
          <a:prstGeom prst="ellipse">
            <a:avLst/>
          </a:prstGeom>
          <a:solidFill>
            <a:schemeClr val="accent1">
              <a:alpha val="0"/>
            </a:schemeClr>
          </a:solidFill>
          <a:ln w="12700">
            <a:solidFill>
              <a:schemeClr val="accent1"/>
            </a:solidFill>
            <a:prstDash val="solid"/>
          </a:ln>
        </p:spPr>
      </p:sp>
      <p:sp>
        <p:nvSpPr>
          <p:cNvPr id="7" name="table Users"/>
          <p:cNvSpPr/>
          <p:nvPr/>
        </p:nvSpPr>
        <p:spPr>
          <a:xfrm>
            <a:off x="457200" y="1188720"/>
            <a:ext cx="1097280" cy="987552"/>
          </a:xfrm>
          <a:prstGeom prst="roundRect">
            <a:avLst>
              <a:gd name="adj" fmla="val 7407"/>
            </a:avLst>
          </a:prstGeom>
          <a:solidFill>
            <a:schemeClr val="bg1"/>
          </a:solidFill>
          <a:ln w="9525">
            <a:solidFill>
              <a:srgbClr val="DDE3E8"/>
            </a:solidFill>
            <a:prstDash val="solid"/>
          </a:ln>
        </p:spPr>
      </p:sp>
      <p:sp>
        <p:nvSpPr>
          <p:cNvPr id="8" name="Text 5"/>
          <p:cNvSpPr txBox="1"/>
          <p:nvPr/>
        </p:nvSpPr>
        <p:spPr>
          <a:xfrm>
            <a:off x="548640" y="1261872"/>
            <a:ext cx="914400" cy="502920"/>
          </a:xfrm>
          <a:prstGeom prst="rect">
            <a:avLst/>
          </a:prstGeom>
          <a:noFill/>
          <a:ln/>
        </p:spPr>
        <p:txBody>
          <a:bodyPr wrap="square" lIns="0" tIns="0" rIns="0" bIns="0" rtlCol="0" anchor="ctr"/>
          <a:lstStyle/>
          <a:p>
            <a:pPr indent="0" marL="0">
              <a:buNone/>
            </a:pPr>
            <a:r>
              <a:rPr lang="en-US" sz="2800" dirty="0">
                <a:solidFill>
                  <a:schemeClr val="accent1"/>
                </a:solidFill>
              </a:rPr>
              <a:t>26</a:t>
            </a:r>
            <a:endParaRPr lang="en-US" sz="2800" dirty="0"/>
          </a:p>
        </p:txBody>
      </p:sp>
      <p:sp>
        <p:nvSpPr>
          <p:cNvPr id="9" name="Text 6"/>
          <p:cNvSpPr txBox="1"/>
          <p:nvPr/>
        </p:nvSpPr>
        <p:spPr>
          <a:xfrm>
            <a:off x="548640" y="1792224"/>
            <a:ext cx="914400" cy="320040"/>
          </a:xfrm>
          <a:prstGeom prst="rect">
            <a:avLst/>
          </a:prstGeom>
          <a:noFill/>
          <a:ln/>
        </p:spPr>
        <p:txBody>
          <a:bodyPr wrap="square" lIns="0" tIns="0" rIns="0" bIns="0" rtlCol="0" anchor="t"/>
          <a:lstStyle/>
          <a:p>
            <a:pPr indent="0" marL="0">
              <a:buNone/>
            </a:pPr>
            <a:r>
              <a:rPr lang="en-US" sz="1100" dirty="0">
                <a:solidFill>
                  <a:schemeClr val="tx2"/>
                </a:solidFill>
              </a:rPr>
              <a:t>Users</a:t>
            </a:r>
            <a:endParaRPr lang="en-US" sz="1100" dirty="0"/>
          </a:p>
        </p:txBody>
      </p:sp>
      <p:sp>
        <p:nvSpPr>
          <p:cNvPr id="10" name="table Instructors"/>
          <p:cNvSpPr/>
          <p:nvPr/>
        </p:nvSpPr>
        <p:spPr>
          <a:xfrm>
            <a:off x="1636776" y="1188720"/>
            <a:ext cx="1097280" cy="987552"/>
          </a:xfrm>
          <a:prstGeom prst="roundRect">
            <a:avLst>
              <a:gd name="adj" fmla="val 7407"/>
            </a:avLst>
          </a:prstGeom>
          <a:solidFill>
            <a:schemeClr val="bg1"/>
          </a:solidFill>
          <a:ln w="9525">
            <a:solidFill>
              <a:srgbClr val="DDE3E8"/>
            </a:solidFill>
            <a:prstDash val="solid"/>
          </a:ln>
        </p:spPr>
      </p:sp>
      <p:sp>
        <p:nvSpPr>
          <p:cNvPr id="11" name="Text 8"/>
          <p:cNvSpPr txBox="1"/>
          <p:nvPr/>
        </p:nvSpPr>
        <p:spPr>
          <a:xfrm>
            <a:off x="1728216" y="1261872"/>
            <a:ext cx="914400" cy="502920"/>
          </a:xfrm>
          <a:prstGeom prst="rect">
            <a:avLst/>
          </a:prstGeom>
          <a:noFill/>
          <a:ln/>
        </p:spPr>
        <p:txBody>
          <a:bodyPr wrap="square" lIns="0" tIns="0" rIns="0" bIns="0" rtlCol="0" anchor="ctr"/>
          <a:lstStyle/>
          <a:p>
            <a:pPr indent="0" marL="0">
              <a:buNone/>
            </a:pPr>
            <a:r>
              <a:rPr lang="en-US" sz="2800" dirty="0">
                <a:solidFill>
                  <a:schemeClr val="accent1"/>
                </a:solidFill>
              </a:rPr>
              <a:t>5</a:t>
            </a:r>
            <a:endParaRPr lang="en-US" sz="2800" dirty="0"/>
          </a:p>
        </p:txBody>
      </p:sp>
      <p:sp>
        <p:nvSpPr>
          <p:cNvPr id="12" name="Text 9"/>
          <p:cNvSpPr txBox="1"/>
          <p:nvPr/>
        </p:nvSpPr>
        <p:spPr>
          <a:xfrm>
            <a:off x="1728216" y="1792224"/>
            <a:ext cx="914400" cy="320040"/>
          </a:xfrm>
          <a:prstGeom prst="rect">
            <a:avLst/>
          </a:prstGeom>
          <a:noFill/>
          <a:ln/>
        </p:spPr>
        <p:txBody>
          <a:bodyPr wrap="square" lIns="0" tIns="0" rIns="0" bIns="0" rtlCol="0" anchor="t"/>
          <a:lstStyle/>
          <a:p>
            <a:pPr indent="0" marL="0">
              <a:buNone/>
            </a:pPr>
            <a:r>
              <a:rPr lang="en-US" sz="1100" dirty="0">
                <a:solidFill>
                  <a:schemeClr val="tx2"/>
                </a:solidFill>
              </a:rPr>
              <a:t>Instructors</a:t>
            </a:r>
            <a:endParaRPr lang="en-US" sz="1100" dirty="0"/>
          </a:p>
        </p:txBody>
      </p:sp>
      <p:sp>
        <p:nvSpPr>
          <p:cNvPr id="13" name="table Learners"/>
          <p:cNvSpPr/>
          <p:nvPr/>
        </p:nvSpPr>
        <p:spPr>
          <a:xfrm>
            <a:off x="2816352" y="1188720"/>
            <a:ext cx="1097280" cy="987552"/>
          </a:xfrm>
          <a:prstGeom prst="roundRect">
            <a:avLst>
              <a:gd name="adj" fmla="val 7407"/>
            </a:avLst>
          </a:prstGeom>
          <a:solidFill>
            <a:schemeClr val="bg1"/>
          </a:solidFill>
          <a:ln w="9525">
            <a:solidFill>
              <a:srgbClr val="DDE3E8"/>
            </a:solidFill>
            <a:prstDash val="solid"/>
          </a:ln>
        </p:spPr>
      </p:sp>
      <p:sp>
        <p:nvSpPr>
          <p:cNvPr id="14" name="Text 11"/>
          <p:cNvSpPr txBox="1"/>
          <p:nvPr/>
        </p:nvSpPr>
        <p:spPr>
          <a:xfrm>
            <a:off x="2907792" y="1261872"/>
            <a:ext cx="914400" cy="502920"/>
          </a:xfrm>
          <a:prstGeom prst="rect">
            <a:avLst/>
          </a:prstGeom>
          <a:noFill/>
          <a:ln/>
        </p:spPr>
        <p:txBody>
          <a:bodyPr wrap="square" lIns="0" tIns="0" rIns="0" bIns="0" rtlCol="0" anchor="ctr"/>
          <a:lstStyle/>
          <a:p>
            <a:pPr indent="0" marL="0">
              <a:buNone/>
            </a:pPr>
            <a:r>
              <a:rPr lang="en-US" sz="2800" dirty="0">
                <a:solidFill>
                  <a:schemeClr val="accent1"/>
                </a:solidFill>
              </a:rPr>
              <a:t>20</a:t>
            </a:r>
            <a:endParaRPr lang="en-US" sz="2800" dirty="0"/>
          </a:p>
        </p:txBody>
      </p:sp>
      <p:sp>
        <p:nvSpPr>
          <p:cNvPr id="15" name="Text 12"/>
          <p:cNvSpPr txBox="1"/>
          <p:nvPr/>
        </p:nvSpPr>
        <p:spPr>
          <a:xfrm>
            <a:off x="2907792" y="1792224"/>
            <a:ext cx="914400" cy="320040"/>
          </a:xfrm>
          <a:prstGeom prst="rect">
            <a:avLst/>
          </a:prstGeom>
          <a:noFill/>
          <a:ln/>
        </p:spPr>
        <p:txBody>
          <a:bodyPr wrap="square" lIns="0" tIns="0" rIns="0" bIns="0" rtlCol="0" anchor="t"/>
          <a:lstStyle/>
          <a:p>
            <a:pPr indent="0" marL="0">
              <a:buNone/>
            </a:pPr>
            <a:r>
              <a:rPr lang="en-US" sz="1100" dirty="0">
                <a:solidFill>
                  <a:schemeClr val="tx2"/>
                </a:solidFill>
              </a:rPr>
              <a:t>Learners</a:t>
            </a:r>
            <a:endParaRPr lang="en-US" sz="1100" dirty="0"/>
          </a:p>
        </p:txBody>
      </p:sp>
      <p:sp>
        <p:nvSpPr>
          <p:cNvPr id="16" name="table Courses"/>
          <p:cNvSpPr/>
          <p:nvPr/>
        </p:nvSpPr>
        <p:spPr>
          <a:xfrm>
            <a:off x="3995928" y="1188720"/>
            <a:ext cx="1097280" cy="987552"/>
          </a:xfrm>
          <a:prstGeom prst="roundRect">
            <a:avLst>
              <a:gd name="adj" fmla="val 7407"/>
            </a:avLst>
          </a:prstGeom>
          <a:solidFill>
            <a:schemeClr val="bg1"/>
          </a:solidFill>
          <a:ln w="9525">
            <a:solidFill>
              <a:srgbClr val="DDE3E8"/>
            </a:solidFill>
            <a:prstDash val="solid"/>
          </a:ln>
        </p:spPr>
      </p:sp>
      <p:sp>
        <p:nvSpPr>
          <p:cNvPr id="17" name="Text 14"/>
          <p:cNvSpPr txBox="1"/>
          <p:nvPr/>
        </p:nvSpPr>
        <p:spPr>
          <a:xfrm>
            <a:off x="4087368" y="1261872"/>
            <a:ext cx="914400" cy="502920"/>
          </a:xfrm>
          <a:prstGeom prst="rect">
            <a:avLst/>
          </a:prstGeom>
          <a:noFill/>
          <a:ln/>
        </p:spPr>
        <p:txBody>
          <a:bodyPr wrap="square" lIns="0" tIns="0" rIns="0" bIns="0" rtlCol="0" anchor="ctr"/>
          <a:lstStyle/>
          <a:p>
            <a:pPr indent="0" marL="0">
              <a:buNone/>
            </a:pPr>
            <a:r>
              <a:rPr lang="en-US" sz="2800" dirty="0">
                <a:solidFill>
                  <a:schemeClr val="accent1"/>
                </a:solidFill>
              </a:rPr>
              <a:t>9</a:t>
            </a:r>
            <a:endParaRPr lang="en-US" sz="2800" dirty="0"/>
          </a:p>
        </p:txBody>
      </p:sp>
      <p:sp>
        <p:nvSpPr>
          <p:cNvPr id="18" name="Text 15"/>
          <p:cNvSpPr txBox="1"/>
          <p:nvPr/>
        </p:nvSpPr>
        <p:spPr>
          <a:xfrm>
            <a:off x="4087368" y="1792224"/>
            <a:ext cx="914400" cy="320040"/>
          </a:xfrm>
          <a:prstGeom prst="rect">
            <a:avLst/>
          </a:prstGeom>
          <a:noFill/>
          <a:ln/>
        </p:spPr>
        <p:txBody>
          <a:bodyPr wrap="square" lIns="0" tIns="0" rIns="0" bIns="0" rtlCol="0" anchor="t"/>
          <a:lstStyle/>
          <a:p>
            <a:pPr indent="0" marL="0">
              <a:buNone/>
            </a:pPr>
            <a:r>
              <a:rPr lang="en-US" sz="1100" dirty="0">
                <a:solidFill>
                  <a:schemeClr val="tx2"/>
                </a:solidFill>
              </a:rPr>
              <a:t>Courses</a:t>
            </a:r>
            <a:endParaRPr lang="en-US" sz="1100" dirty="0"/>
          </a:p>
        </p:txBody>
      </p:sp>
      <p:sp>
        <p:nvSpPr>
          <p:cNvPr id="19" name="table Modules"/>
          <p:cNvSpPr/>
          <p:nvPr/>
        </p:nvSpPr>
        <p:spPr>
          <a:xfrm>
            <a:off x="5175504" y="1188720"/>
            <a:ext cx="1097280" cy="987552"/>
          </a:xfrm>
          <a:prstGeom prst="roundRect">
            <a:avLst>
              <a:gd name="adj" fmla="val 7407"/>
            </a:avLst>
          </a:prstGeom>
          <a:solidFill>
            <a:schemeClr val="bg1"/>
          </a:solidFill>
          <a:ln w="9525">
            <a:solidFill>
              <a:srgbClr val="DDE3E8"/>
            </a:solidFill>
            <a:prstDash val="solid"/>
          </a:ln>
        </p:spPr>
      </p:sp>
      <p:sp>
        <p:nvSpPr>
          <p:cNvPr id="20" name="Text 17"/>
          <p:cNvSpPr txBox="1"/>
          <p:nvPr/>
        </p:nvSpPr>
        <p:spPr>
          <a:xfrm>
            <a:off x="5266944" y="1261872"/>
            <a:ext cx="914400" cy="502920"/>
          </a:xfrm>
          <a:prstGeom prst="rect">
            <a:avLst/>
          </a:prstGeom>
          <a:noFill/>
          <a:ln/>
        </p:spPr>
        <p:txBody>
          <a:bodyPr wrap="square" lIns="0" tIns="0" rIns="0" bIns="0" rtlCol="0" anchor="ctr"/>
          <a:lstStyle/>
          <a:p>
            <a:pPr indent="0" marL="0">
              <a:buNone/>
            </a:pPr>
            <a:r>
              <a:rPr lang="en-US" sz="2800" dirty="0">
                <a:solidFill>
                  <a:schemeClr val="accent1"/>
                </a:solidFill>
              </a:rPr>
              <a:t>25</a:t>
            </a:r>
            <a:endParaRPr lang="en-US" sz="2800" dirty="0"/>
          </a:p>
        </p:txBody>
      </p:sp>
      <p:sp>
        <p:nvSpPr>
          <p:cNvPr id="21" name="Text 18"/>
          <p:cNvSpPr txBox="1"/>
          <p:nvPr/>
        </p:nvSpPr>
        <p:spPr>
          <a:xfrm>
            <a:off x="5266944" y="1792224"/>
            <a:ext cx="914400" cy="320040"/>
          </a:xfrm>
          <a:prstGeom prst="rect">
            <a:avLst/>
          </a:prstGeom>
          <a:noFill/>
          <a:ln/>
        </p:spPr>
        <p:txBody>
          <a:bodyPr wrap="square" lIns="0" tIns="0" rIns="0" bIns="0" rtlCol="0" anchor="t"/>
          <a:lstStyle/>
          <a:p>
            <a:pPr indent="0" marL="0">
              <a:buNone/>
            </a:pPr>
            <a:r>
              <a:rPr lang="en-US" sz="1100" dirty="0">
                <a:solidFill>
                  <a:schemeClr val="tx2"/>
                </a:solidFill>
              </a:rPr>
              <a:t>Modules</a:t>
            </a:r>
            <a:endParaRPr lang="en-US" sz="1100" dirty="0"/>
          </a:p>
        </p:txBody>
      </p:sp>
      <p:sp>
        <p:nvSpPr>
          <p:cNvPr id="22" name="table Lessons"/>
          <p:cNvSpPr/>
          <p:nvPr/>
        </p:nvSpPr>
        <p:spPr>
          <a:xfrm>
            <a:off x="6355080" y="1188720"/>
            <a:ext cx="1097280" cy="987552"/>
          </a:xfrm>
          <a:prstGeom prst="roundRect">
            <a:avLst>
              <a:gd name="adj" fmla="val 7407"/>
            </a:avLst>
          </a:prstGeom>
          <a:solidFill>
            <a:schemeClr val="bg1"/>
          </a:solidFill>
          <a:ln w="9525">
            <a:solidFill>
              <a:srgbClr val="DDE3E8"/>
            </a:solidFill>
            <a:prstDash val="solid"/>
          </a:ln>
        </p:spPr>
      </p:sp>
      <p:sp>
        <p:nvSpPr>
          <p:cNvPr id="23" name="Text 20"/>
          <p:cNvSpPr txBox="1"/>
          <p:nvPr/>
        </p:nvSpPr>
        <p:spPr>
          <a:xfrm>
            <a:off x="6446520" y="1261872"/>
            <a:ext cx="914400" cy="502920"/>
          </a:xfrm>
          <a:prstGeom prst="rect">
            <a:avLst/>
          </a:prstGeom>
          <a:noFill/>
          <a:ln/>
        </p:spPr>
        <p:txBody>
          <a:bodyPr wrap="square" lIns="0" tIns="0" rIns="0" bIns="0" rtlCol="0" anchor="ctr"/>
          <a:lstStyle/>
          <a:p>
            <a:pPr indent="0" marL="0">
              <a:buNone/>
            </a:pPr>
            <a:r>
              <a:rPr lang="en-US" sz="2800" dirty="0">
                <a:solidFill>
                  <a:schemeClr val="accent1"/>
                </a:solidFill>
              </a:rPr>
              <a:t>74</a:t>
            </a:r>
            <a:endParaRPr lang="en-US" sz="2800" dirty="0"/>
          </a:p>
        </p:txBody>
      </p:sp>
      <p:sp>
        <p:nvSpPr>
          <p:cNvPr id="24" name="Text 21"/>
          <p:cNvSpPr txBox="1"/>
          <p:nvPr/>
        </p:nvSpPr>
        <p:spPr>
          <a:xfrm>
            <a:off x="6446520" y="1792224"/>
            <a:ext cx="914400" cy="320040"/>
          </a:xfrm>
          <a:prstGeom prst="rect">
            <a:avLst/>
          </a:prstGeom>
          <a:noFill/>
          <a:ln/>
        </p:spPr>
        <p:txBody>
          <a:bodyPr wrap="square" lIns="0" tIns="0" rIns="0" bIns="0" rtlCol="0" anchor="t"/>
          <a:lstStyle/>
          <a:p>
            <a:pPr indent="0" marL="0">
              <a:buNone/>
            </a:pPr>
            <a:r>
              <a:rPr lang="en-US" sz="1100" dirty="0">
                <a:solidFill>
                  <a:schemeClr val="tx2"/>
                </a:solidFill>
              </a:rPr>
              <a:t>Lessons</a:t>
            </a:r>
            <a:endParaRPr lang="en-US" sz="1100" dirty="0"/>
          </a:p>
        </p:txBody>
      </p:sp>
      <p:sp>
        <p:nvSpPr>
          <p:cNvPr id="25" name="table Enrolments"/>
          <p:cNvSpPr/>
          <p:nvPr/>
        </p:nvSpPr>
        <p:spPr>
          <a:xfrm>
            <a:off x="7534656" y="1188720"/>
            <a:ext cx="1097280" cy="987552"/>
          </a:xfrm>
          <a:prstGeom prst="roundRect">
            <a:avLst>
              <a:gd name="adj" fmla="val 7407"/>
            </a:avLst>
          </a:prstGeom>
          <a:solidFill>
            <a:schemeClr val="bg1"/>
          </a:solidFill>
          <a:ln w="9525">
            <a:solidFill>
              <a:srgbClr val="DDE3E8"/>
            </a:solidFill>
            <a:prstDash val="solid"/>
          </a:ln>
        </p:spPr>
      </p:sp>
      <p:sp>
        <p:nvSpPr>
          <p:cNvPr id="26" name="Text 23"/>
          <p:cNvSpPr txBox="1"/>
          <p:nvPr/>
        </p:nvSpPr>
        <p:spPr>
          <a:xfrm>
            <a:off x="7626096" y="1261872"/>
            <a:ext cx="914400" cy="502920"/>
          </a:xfrm>
          <a:prstGeom prst="rect">
            <a:avLst/>
          </a:prstGeom>
          <a:noFill/>
          <a:ln/>
        </p:spPr>
        <p:txBody>
          <a:bodyPr wrap="square" lIns="0" tIns="0" rIns="0" bIns="0" rtlCol="0" anchor="ctr"/>
          <a:lstStyle/>
          <a:p>
            <a:pPr indent="0" marL="0">
              <a:buNone/>
            </a:pPr>
            <a:r>
              <a:rPr lang="en-US" sz="2800" dirty="0">
                <a:solidFill>
                  <a:schemeClr val="accent1"/>
                </a:solidFill>
              </a:rPr>
              <a:t>36</a:t>
            </a:r>
            <a:endParaRPr lang="en-US" sz="2800" dirty="0"/>
          </a:p>
        </p:txBody>
      </p:sp>
      <p:sp>
        <p:nvSpPr>
          <p:cNvPr id="27" name="Text 24"/>
          <p:cNvSpPr txBox="1"/>
          <p:nvPr/>
        </p:nvSpPr>
        <p:spPr>
          <a:xfrm>
            <a:off x="7626096" y="1792224"/>
            <a:ext cx="914400" cy="320040"/>
          </a:xfrm>
          <a:prstGeom prst="rect">
            <a:avLst/>
          </a:prstGeom>
          <a:noFill/>
          <a:ln/>
        </p:spPr>
        <p:txBody>
          <a:bodyPr wrap="square" lIns="0" tIns="0" rIns="0" bIns="0" rtlCol="0" anchor="t"/>
          <a:lstStyle/>
          <a:p>
            <a:pPr indent="0" marL="0">
              <a:buNone/>
            </a:pPr>
            <a:r>
              <a:rPr lang="en-US" sz="1100" dirty="0">
                <a:solidFill>
                  <a:schemeClr val="tx2"/>
                </a:solidFill>
              </a:rPr>
              <a:t>Enrolments</a:t>
            </a:r>
            <a:endParaRPr lang="en-US" sz="1100" dirty="0"/>
          </a:p>
        </p:txBody>
      </p:sp>
      <p:sp>
        <p:nvSpPr>
          <p:cNvPr id="28" name="table Lesson progress"/>
          <p:cNvSpPr/>
          <p:nvPr/>
        </p:nvSpPr>
        <p:spPr>
          <a:xfrm>
            <a:off x="457200" y="2286000"/>
            <a:ext cx="1097280" cy="987552"/>
          </a:xfrm>
          <a:prstGeom prst="roundRect">
            <a:avLst>
              <a:gd name="adj" fmla="val 7407"/>
            </a:avLst>
          </a:prstGeom>
          <a:solidFill>
            <a:schemeClr val="bg1"/>
          </a:solidFill>
          <a:ln w="9525">
            <a:solidFill>
              <a:srgbClr val="DDE3E8"/>
            </a:solidFill>
            <a:prstDash val="solid"/>
          </a:ln>
        </p:spPr>
      </p:sp>
      <p:sp>
        <p:nvSpPr>
          <p:cNvPr id="29" name="Text 26"/>
          <p:cNvSpPr txBox="1"/>
          <p:nvPr/>
        </p:nvSpPr>
        <p:spPr>
          <a:xfrm>
            <a:off x="548640" y="2359152"/>
            <a:ext cx="914400" cy="502920"/>
          </a:xfrm>
          <a:prstGeom prst="rect">
            <a:avLst/>
          </a:prstGeom>
          <a:noFill/>
          <a:ln/>
        </p:spPr>
        <p:txBody>
          <a:bodyPr wrap="square" lIns="0" tIns="0" rIns="0" bIns="0" rtlCol="0" anchor="ctr"/>
          <a:lstStyle/>
          <a:p>
            <a:pPr indent="0" marL="0">
              <a:buNone/>
            </a:pPr>
            <a:r>
              <a:rPr lang="en-US" sz="2800" dirty="0">
                <a:solidFill>
                  <a:schemeClr val="accent1"/>
                </a:solidFill>
              </a:rPr>
              <a:t>321</a:t>
            </a:r>
            <a:endParaRPr lang="en-US" sz="2800" dirty="0"/>
          </a:p>
        </p:txBody>
      </p:sp>
      <p:sp>
        <p:nvSpPr>
          <p:cNvPr id="30" name="Text 27"/>
          <p:cNvSpPr txBox="1"/>
          <p:nvPr/>
        </p:nvSpPr>
        <p:spPr>
          <a:xfrm>
            <a:off x="548640" y="2889504"/>
            <a:ext cx="914400" cy="320040"/>
          </a:xfrm>
          <a:prstGeom prst="rect">
            <a:avLst/>
          </a:prstGeom>
          <a:noFill/>
          <a:ln/>
        </p:spPr>
        <p:txBody>
          <a:bodyPr wrap="square" lIns="0" tIns="0" rIns="0" bIns="0" rtlCol="0" anchor="t"/>
          <a:lstStyle/>
          <a:p>
            <a:pPr indent="0" marL="0">
              <a:buNone/>
            </a:pPr>
            <a:r>
              <a:rPr lang="en-US" sz="1100" dirty="0">
                <a:solidFill>
                  <a:schemeClr val="tx2"/>
                </a:solidFill>
              </a:rPr>
              <a:t>Lesson progress</a:t>
            </a:r>
            <a:endParaRPr lang="en-US" sz="1100" dirty="0"/>
          </a:p>
        </p:txBody>
      </p:sp>
      <p:sp>
        <p:nvSpPr>
          <p:cNvPr id="31" name="table Quizzes"/>
          <p:cNvSpPr/>
          <p:nvPr/>
        </p:nvSpPr>
        <p:spPr>
          <a:xfrm>
            <a:off x="1636776" y="2286000"/>
            <a:ext cx="1097280" cy="987552"/>
          </a:xfrm>
          <a:prstGeom prst="roundRect">
            <a:avLst>
              <a:gd name="adj" fmla="val 7407"/>
            </a:avLst>
          </a:prstGeom>
          <a:solidFill>
            <a:schemeClr val="bg1"/>
          </a:solidFill>
          <a:ln w="9525">
            <a:solidFill>
              <a:srgbClr val="DDE3E8"/>
            </a:solidFill>
            <a:prstDash val="solid"/>
          </a:ln>
        </p:spPr>
      </p:sp>
      <p:sp>
        <p:nvSpPr>
          <p:cNvPr id="32" name="Text 29"/>
          <p:cNvSpPr txBox="1"/>
          <p:nvPr/>
        </p:nvSpPr>
        <p:spPr>
          <a:xfrm>
            <a:off x="1728216" y="2359152"/>
            <a:ext cx="914400" cy="502920"/>
          </a:xfrm>
          <a:prstGeom prst="rect">
            <a:avLst/>
          </a:prstGeom>
          <a:noFill/>
          <a:ln/>
        </p:spPr>
        <p:txBody>
          <a:bodyPr wrap="square" lIns="0" tIns="0" rIns="0" bIns="0" rtlCol="0" anchor="ctr"/>
          <a:lstStyle/>
          <a:p>
            <a:pPr indent="0" marL="0">
              <a:buNone/>
            </a:pPr>
            <a:r>
              <a:rPr lang="en-US" sz="2800" dirty="0">
                <a:solidFill>
                  <a:schemeClr val="accent1"/>
                </a:solidFill>
              </a:rPr>
              <a:t>9</a:t>
            </a:r>
            <a:endParaRPr lang="en-US" sz="2800" dirty="0"/>
          </a:p>
        </p:txBody>
      </p:sp>
      <p:sp>
        <p:nvSpPr>
          <p:cNvPr id="33" name="Text 30"/>
          <p:cNvSpPr txBox="1"/>
          <p:nvPr/>
        </p:nvSpPr>
        <p:spPr>
          <a:xfrm>
            <a:off x="1728216" y="2889504"/>
            <a:ext cx="914400" cy="320040"/>
          </a:xfrm>
          <a:prstGeom prst="rect">
            <a:avLst/>
          </a:prstGeom>
          <a:noFill/>
          <a:ln/>
        </p:spPr>
        <p:txBody>
          <a:bodyPr wrap="square" lIns="0" tIns="0" rIns="0" bIns="0" rtlCol="0" anchor="t"/>
          <a:lstStyle/>
          <a:p>
            <a:pPr indent="0" marL="0">
              <a:buNone/>
            </a:pPr>
            <a:r>
              <a:rPr lang="en-US" sz="1100" dirty="0">
                <a:solidFill>
                  <a:schemeClr val="tx2"/>
                </a:solidFill>
              </a:rPr>
              <a:t>Quizzes</a:t>
            </a:r>
            <a:endParaRPr lang="en-US" sz="1100" dirty="0"/>
          </a:p>
        </p:txBody>
      </p:sp>
      <p:sp>
        <p:nvSpPr>
          <p:cNvPr id="34" name="table Questions"/>
          <p:cNvSpPr/>
          <p:nvPr/>
        </p:nvSpPr>
        <p:spPr>
          <a:xfrm>
            <a:off x="2816352" y="2286000"/>
            <a:ext cx="1097280" cy="987552"/>
          </a:xfrm>
          <a:prstGeom prst="roundRect">
            <a:avLst>
              <a:gd name="adj" fmla="val 7407"/>
            </a:avLst>
          </a:prstGeom>
          <a:solidFill>
            <a:schemeClr val="bg1"/>
          </a:solidFill>
          <a:ln w="9525">
            <a:solidFill>
              <a:srgbClr val="DDE3E8"/>
            </a:solidFill>
            <a:prstDash val="solid"/>
          </a:ln>
        </p:spPr>
      </p:sp>
      <p:sp>
        <p:nvSpPr>
          <p:cNvPr id="35" name="Text 32"/>
          <p:cNvSpPr txBox="1"/>
          <p:nvPr/>
        </p:nvSpPr>
        <p:spPr>
          <a:xfrm>
            <a:off x="2907792" y="2359152"/>
            <a:ext cx="914400" cy="502920"/>
          </a:xfrm>
          <a:prstGeom prst="rect">
            <a:avLst/>
          </a:prstGeom>
          <a:noFill/>
          <a:ln/>
        </p:spPr>
        <p:txBody>
          <a:bodyPr wrap="square" lIns="0" tIns="0" rIns="0" bIns="0" rtlCol="0" anchor="ctr"/>
          <a:lstStyle/>
          <a:p>
            <a:pPr indent="0" marL="0">
              <a:buNone/>
            </a:pPr>
            <a:r>
              <a:rPr lang="en-US" sz="2800" dirty="0">
                <a:solidFill>
                  <a:schemeClr val="accent1"/>
                </a:solidFill>
              </a:rPr>
              <a:t>41</a:t>
            </a:r>
            <a:endParaRPr lang="en-US" sz="2800" dirty="0"/>
          </a:p>
        </p:txBody>
      </p:sp>
      <p:sp>
        <p:nvSpPr>
          <p:cNvPr id="36" name="Text 33"/>
          <p:cNvSpPr txBox="1"/>
          <p:nvPr/>
        </p:nvSpPr>
        <p:spPr>
          <a:xfrm>
            <a:off x="2907792" y="2889504"/>
            <a:ext cx="914400" cy="320040"/>
          </a:xfrm>
          <a:prstGeom prst="rect">
            <a:avLst/>
          </a:prstGeom>
          <a:noFill/>
          <a:ln/>
        </p:spPr>
        <p:txBody>
          <a:bodyPr wrap="square" lIns="0" tIns="0" rIns="0" bIns="0" rtlCol="0" anchor="t"/>
          <a:lstStyle/>
          <a:p>
            <a:pPr indent="0" marL="0">
              <a:buNone/>
            </a:pPr>
            <a:r>
              <a:rPr lang="en-US" sz="1100" dirty="0">
                <a:solidFill>
                  <a:schemeClr val="tx2"/>
                </a:solidFill>
              </a:rPr>
              <a:t>Questions</a:t>
            </a:r>
            <a:endParaRPr lang="en-US" sz="1100" dirty="0"/>
          </a:p>
        </p:txBody>
      </p:sp>
      <p:sp>
        <p:nvSpPr>
          <p:cNvPr id="37" name="table Attempts"/>
          <p:cNvSpPr/>
          <p:nvPr/>
        </p:nvSpPr>
        <p:spPr>
          <a:xfrm>
            <a:off x="3995928" y="2286000"/>
            <a:ext cx="1097280" cy="987552"/>
          </a:xfrm>
          <a:prstGeom prst="roundRect">
            <a:avLst>
              <a:gd name="adj" fmla="val 7407"/>
            </a:avLst>
          </a:prstGeom>
          <a:solidFill>
            <a:schemeClr val="bg1"/>
          </a:solidFill>
          <a:ln w="9525">
            <a:solidFill>
              <a:srgbClr val="DDE3E8"/>
            </a:solidFill>
            <a:prstDash val="solid"/>
          </a:ln>
        </p:spPr>
      </p:sp>
      <p:sp>
        <p:nvSpPr>
          <p:cNvPr id="38" name="Text 35"/>
          <p:cNvSpPr txBox="1"/>
          <p:nvPr/>
        </p:nvSpPr>
        <p:spPr>
          <a:xfrm>
            <a:off x="4087368" y="2359152"/>
            <a:ext cx="914400" cy="502920"/>
          </a:xfrm>
          <a:prstGeom prst="rect">
            <a:avLst/>
          </a:prstGeom>
          <a:noFill/>
          <a:ln/>
        </p:spPr>
        <p:txBody>
          <a:bodyPr wrap="square" lIns="0" tIns="0" rIns="0" bIns="0" rtlCol="0" anchor="ctr"/>
          <a:lstStyle/>
          <a:p>
            <a:pPr indent="0" marL="0">
              <a:buNone/>
            </a:pPr>
            <a:r>
              <a:rPr lang="en-US" sz="2800" dirty="0">
                <a:solidFill>
                  <a:schemeClr val="accent1"/>
                </a:solidFill>
              </a:rPr>
              <a:t>48</a:t>
            </a:r>
            <a:endParaRPr lang="en-US" sz="2800" dirty="0"/>
          </a:p>
        </p:txBody>
      </p:sp>
      <p:sp>
        <p:nvSpPr>
          <p:cNvPr id="39" name="Text 36"/>
          <p:cNvSpPr txBox="1"/>
          <p:nvPr/>
        </p:nvSpPr>
        <p:spPr>
          <a:xfrm>
            <a:off x="4087368" y="2889504"/>
            <a:ext cx="914400" cy="320040"/>
          </a:xfrm>
          <a:prstGeom prst="rect">
            <a:avLst/>
          </a:prstGeom>
          <a:noFill/>
          <a:ln/>
        </p:spPr>
        <p:txBody>
          <a:bodyPr wrap="square" lIns="0" tIns="0" rIns="0" bIns="0" rtlCol="0" anchor="t"/>
          <a:lstStyle/>
          <a:p>
            <a:pPr indent="0" marL="0">
              <a:buNone/>
            </a:pPr>
            <a:r>
              <a:rPr lang="en-US" sz="1100" dirty="0">
                <a:solidFill>
                  <a:schemeClr val="tx2"/>
                </a:solidFill>
              </a:rPr>
              <a:t>Attempts</a:t>
            </a:r>
            <a:endParaRPr lang="en-US" sz="1100" dirty="0"/>
          </a:p>
        </p:txBody>
      </p:sp>
      <p:sp>
        <p:nvSpPr>
          <p:cNvPr id="40" name="table Responses"/>
          <p:cNvSpPr/>
          <p:nvPr/>
        </p:nvSpPr>
        <p:spPr>
          <a:xfrm>
            <a:off x="5175504" y="2286000"/>
            <a:ext cx="1097280" cy="987552"/>
          </a:xfrm>
          <a:prstGeom prst="roundRect">
            <a:avLst>
              <a:gd name="adj" fmla="val 7407"/>
            </a:avLst>
          </a:prstGeom>
          <a:solidFill>
            <a:schemeClr val="bg1"/>
          </a:solidFill>
          <a:ln w="9525">
            <a:solidFill>
              <a:srgbClr val="DDE3E8"/>
            </a:solidFill>
            <a:prstDash val="solid"/>
          </a:ln>
        </p:spPr>
      </p:sp>
      <p:sp>
        <p:nvSpPr>
          <p:cNvPr id="41" name="Text 38"/>
          <p:cNvSpPr txBox="1"/>
          <p:nvPr/>
        </p:nvSpPr>
        <p:spPr>
          <a:xfrm>
            <a:off x="5266944" y="2359152"/>
            <a:ext cx="914400" cy="502920"/>
          </a:xfrm>
          <a:prstGeom prst="rect">
            <a:avLst/>
          </a:prstGeom>
          <a:noFill/>
          <a:ln/>
        </p:spPr>
        <p:txBody>
          <a:bodyPr wrap="square" lIns="0" tIns="0" rIns="0" bIns="0" rtlCol="0" anchor="ctr"/>
          <a:lstStyle/>
          <a:p>
            <a:pPr indent="0" marL="0">
              <a:buNone/>
            </a:pPr>
            <a:r>
              <a:rPr lang="en-US" sz="2800" dirty="0">
                <a:solidFill>
                  <a:schemeClr val="accent1"/>
                </a:solidFill>
              </a:rPr>
              <a:t>228</a:t>
            </a:r>
            <a:endParaRPr lang="en-US" sz="2800" dirty="0"/>
          </a:p>
        </p:txBody>
      </p:sp>
      <p:sp>
        <p:nvSpPr>
          <p:cNvPr id="42" name="Text 39"/>
          <p:cNvSpPr txBox="1"/>
          <p:nvPr/>
        </p:nvSpPr>
        <p:spPr>
          <a:xfrm>
            <a:off x="5266944" y="2889504"/>
            <a:ext cx="914400" cy="320040"/>
          </a:xfrm>
          <a:prstGeom prst="rect">
            <a:avLst/>
          </a:prstGeom>
          <a:noFill/>
          <a:ln/>
        </p:spPr>
        <p:txBody>
          <a:bodyPr wrap="square" lIns="0" tIns="0" rIns="0" bIns="0" rtlCol="0" anchor="t"/>
          <a:lstStyle/>
          <a:p>
            <a:pPr indent="0" marL="0">
              <a:buNone/>
            </a:pPr>
            <a:r>
              <a:rPr lang="en-US" sz="1100" dirty="0">
                <a:solidFill>
                  <a:schemeClr val="tx2"/>
                </a:solidFill>
              </a:rPr>
              <a:t>Responses</a:t>
            </a:r>
            <a:endParaRPr lang="en-US" sz="1100" dirty="0"/>
          </a:p>
        </p:txBody>
      </p:sp>
      <p:sp>
        <p:nvSpPr>
          <p:cNvPr id="43" name="table Certificates"/>
          <p:cNvSpPr/>
          <p:nvPr/>
        </p:nvSpPr>
        <p:spPr>
          <a:xfrm>
            <a:off x="6355080" y="2286000"/>
            <a:ext cx="1097280" cy="987552"/>
          </a:xfrm>
          <a:prstGeom prst="roundRect">
            <a:avLst>
              <a:gd name="adj" fmla="val 7407"/>
            </a:avLst>
          </a:prstGeom>
          <a:solidFill>
            <a:schemeClr val="bg1"/>
          </a:solidFill>
          <a:ln w="9525">
            <a:solidFill>
              <a:srgbClr val="DDE3E8"/>
            </a:solidFill>
            <a:prstDash val="solid"/>
          </a:ln>
        </p:spPr>
      </p:sp>
      <p:sp>
        <p:nvSpPr>
          <p:cNvPr id="44" name="Text 41"/>
          <p:cNvSpPr txBox="1"/>
          <p:nvPr/>
        </p:nvSpPr>
        <p:spPr>
          <a:xfrm>
            <a:off x="6446520" y="2359152"/>
            <a:ext cx="914400" cy="502920"/>
          </a:xfrm>
          <a:prstGeom prst="rect">
            <a:avLst/>
          </a:prstGeom>
          <a:noFill/>
          <a:ln/>
        </p:spPr>
        <p:txBody>
          <a:bodyPr wrap="square" lIns="0" tIns="0" rIns="0" bIns="0" rtlCol="0" anchor="ctr"/>
          <a:lstStyle/>
          <a:p>
            <a:pPr indent="0" marL="0">
              <a:buNone/>
            </a:pPr>
            <a:r>
              <a:rPr lang="en-US" sz="2800" dirty="0">
                <a:solidFill>
                  <a:schemeClr val="accent1"/>
                </a:solidFill>
              </a:rPr>
              <a:t>11</a:t>
            </a:r>
            <a:endParaRPr lang="en-US" sz="2800" dirty="0"/>
          </a:p>
        </p:txBody>
      </p:sp>
      <p:sp>
        <p:nvSpPr>
          <p:cNvPr id="45" name="Text 42"/>
          <p:cNvSpPr txBox="1"/>
          <p:nvPr/>
        </p:nvSpPr>
        <p:spPr>
          <a:xfrm>
            <a:off x="6446520" y="2889504"/>
            <a:ext cx="914400" cy="320040"/>
          </a:xfrm>
          <a:prstGeom prst="rect">
            <a:avLst/>
          </a:prstGeom>
          <a:noFill/>
          <a:ln/>
        </p:spPr>
        <p:txBody>
          <a:bodyPr wrap="square" lIns="0" tIns="0" rIns="0" bIns="0" rtlCol="0" anchor="t"/>
          <a:lstStyle/>
          <a:p>
            <a:pPr indent="0" marL="0">
              <a:buNone/>
            </a:pPr>
            <a:r>
              <a:rPr lang="en-US" sz="1100" dirty="0">
                <a:solidFill>
                  <a:schemeClr val="tx2"/>
                </a:solidFill>
              </a:rPr>
              <a:t>Certificates</a:t>
            </a:r>
            <a:endParaRPr lang="en-US" sz="1100" dirty="0"/>
          </a:p>
        </p:txBody>
      </p:sp>
      <p:sp>
        <p:nvSpPr>
          <p:cNvPr id="46" name="table Feedback"/>
          <p:cNvSpPr/>
          <p:nvPr/>
        </p:nvSpPr>
        <p:spPr>
          <a:xfrm>
            <a:off x="7534656" y="2286000"/>
            <a:ext cx="1097280" cy="987552"/>
          </a:xfrm>
          <a:prstGeom prst="roundRect">
            <a:avLst>
              <a:gd name="adj" fmla="val 7407"/>
            </a:avLst>
          </a:prstGeom>
          <a:solidFill>
            <a:schemeClr val="bg1"/>
          </a:solidFill>
          <a:ln w="9525">
            <a:solidFill>
              <a:srgbClr val="DDE3E8"/>
            </a:solidFill>
            <a:prstDash val="solid"/>
          </a:ln>
        </p:spPr>
      </p:sp>
      <p:sp>
        <p:nvSpPr>
          <p:cNvPr id="47" name="Text 44"/>
          <p:cNvSpPr txBox="1"/>
          <p:nvPr/>
        </p:nvSpPr>
        <p:spPr>
          <a:xfrm>
            <a:off x="7626096" y="2359152"/>
            <a:ext cx="914400" cy="502920"/>
          </a:xfrm>
          <a:prstGeom prst="rect">
            <a:avLst/>
          </a:prstGeom>
          <a:noFill/>
          <a:ln/>
        </p:spPr>
        <p:txBody>
          <a:bodyPr wrap="square" lIns="0" tIns="0" rIns="0" bIns="0" rtlCol="0" anchor="ctr"/>
          <a:lstStyle/>
          <a:p>
            <a:pPr indent="0" marL="0">
              <a:buNone/>
            </a:pPr>
            <a:r>
              <a:rPr lang="en-US" sz="2800" dirty="0">
                <a:solidFill>
                  <a:schemeClr val="accent1"/>
                </a:solidFill>
              </a:rPr>
              <a:t>18</a:t>
            </a:r>
            <a:endParaRPr lang="en-US" sz="2800" dirty="0"/>
          </a:p>
        </p:txBody>
      </p:sp>
      <p:sp>
        <p:nvSpPr>
          <p:cNvPr id="48" name="Text 45"/>
          <p:cNvSpPr txBox="1"/>
          <p:nvPr/>
        </p:nvSpPr>
        <p:spPr>
          <a:xfrm>
            <a:off x="7626096" y="2889504"/>
            <a:ext cx="914400" cy="320040"/>
          </a:xfrm>
          <a:prstGeom prst="rect">
            <a:avLst/>
          </a:prstGeom>
          <a:noFill/>
          <a:ln/>
        </p:spPr>
        <p:txBody>
          <a:bodyPr wrap="square" lIns="0" tIns="0" rIns="0" bIns="0" rtlCol="0" anchor="t"/>
          <a:lstStyle/>
          <a:p>
            <a:pPr indent="0" marL="0">
              <a:buNone/>
            </a:pPr>
            <a:r>
              <a:rPr lang="en-US" sz="1100" dirty="0">
                <a:solidFill>
                  <a:schemeClr val="tx2"/>
                </a:solidFill>
              </a:rPr>
              <a:t>Feedback</a:t>
            </a:r>
            <a:endParaRPr lang="en-US" sz="1100" dirty="0"/>
          </a:p>
        </p:txBody>
      </p:sp>
      <p:sp>
        <p:nvSpPr>
          <p:cNvPr id="49" name="stat 1"/>
          <p:cNvSpPr/>
          <p:nvPr/>
        </p:nvSpPr>
        <p:spPr>
          <a:xfrm>
            <a:off x="457200" y="3520440"/>
            <a:ext cx="2606040" cy="960120"/>
          </a:xfrm>
          <a:prstGeom prst="roundRect">
            <a:avLst>
              <a:gd name="adj" fmla="val 7619"/>
            </a:avLst>
          </a:prstGeom>
          <a:solidFill>
            <a:schemeClr val="bg1"/>
          </a:solidFill>
          <a:ln w="9525">
            <a:solidFill>
              <a:srgbClr val="DDE3E8"/>
            </a:solidFill>
            <a:prstDash val="solid"/>
          </a:ln>
        </p:spPr>
      </p:sp>
      <p:sp>
        <p:nvSpPr>
          <p:cNvPr id="50" name="Text 47"/>
          <p:cNvSpPr txBox="1"/>
          <p:nvPr/>
        </p:nvSpPr>
        <p:spPr>
          <a:xfrm>
            <a:off x="640080" y="3584448"/>
            <a:ext cx="822960" cy="822960"/>
          </a:xfrm>
          <a:prstGeom prst="rect">
            <a:avLst/>
          </a:prstGeom>
          <a:noFill/>
          <a:ln/>
        </p:spPr>
        <p:txBody>
          <a:bodyPr wrap="square" lIns="0" tIns="0" rIns="0" bIns="0" rtlCol="0" anchor="ctr"/>
          <a:lstStyle/>
          <a:p>
            <a:pPr indent="0" marL="0">
              <a:buNone/>
            </a:pPr>
            <a:r>
              <a:rPr lang="en-US" sz="3200" dirty="0">
                <a:solidFill>
                  <a:schemeClr val="tx1"/>
                </a:solidFill>
              </a:rPr>
              <a:t>871</a:t>
            </a:r>
            <a:endParaRPr lang="en-US" sz="3200" dirty="0"/>
          </a:p>
        </p:txBody>
      </p:sp>
      <p:sp>
        <p:nvSpPr>
          <p:cNvPr id="51" name="Text 48"/>
          <p:cNvSpPr txBox="1"/>
          <p:nvPr/>
        </p:nvSpPr>
        <p:spPr>
          <a:xfrm>
            <a:off x="1463040" y="3584448"/>
            <a:ext cx="1463040" cy="822960"/>
          </a:xfrm>
          <a:prstGeom prst="rect">
            <a:avLst/>
          </a:prstGeom>
          <a:noFill/>
          <a:ln/>
        </p:spPr>
        <p:txBody>
          <a:bodyPr wrap="square" lIns="0" tIns="0" rIns="0" bIns="0" rtlCol="0" anchor="ctr"/>
          <a:lstStyle/>
          <a:p>
            <a:pPr indent="0" marL="0">
              <a:buNone/>
            </a:pPr>
            <a:r>
              <a:rPr lang="en-US" sz="1200" dirty="0">
                <a:solidFill>
                  <a:schemeClr val="tx2"/>
                </a:solidFill>
              </a:rPr>
              <a:t>rows across 14 tables</a:t>
            </a:r>
            <a:endParaRPr lang="en-US" sz="1200" dirty="0"/>
          </a:p>
        </p:txBody>
      </p:sp>
      <p:sp>
        <p:nvSpPr>
          <p:cNvPr id="52" name="stat 2"/>
          <p:cNvSpPr/>
          <p:nvPr/>
        </p:nvSpPr>
        <p:spPr>
          <a:xfrm>
            <a:off x="3246120" y="3520440"/>
            <a:ext cx="2606040" cy="960120"/>
          </a:xfrm>
          <a:prstGeom prst="roundRect">
            <a:avLst>
              <a:gd name="adj" fmla="val 7619"/>
            </a:avLst>
          </a:prstGeom>
          <a:solidFill>
            <a:schemeClr val="bg1"/>
          </a:solidFill>
          <a:ln w="9525">
            <a:solidFill>
              <a:srgbClr val="DDE3E8"/>
            </a:solidFill>
            <a:prstDash val="solid"/>
          </a:ln>
        </p:spPr>
      </p:sp>
      <p:sp>
        <p:nvSpPr>
          <p:cNvPr id="53" name="Text 50"/>
          <p:cNvSpPr txBox="1"/>
          <p:nvPr/>
        </p:nvSpPr>
        <p:spPr>
          <a:xfrm>
            <a:off x="3429000" y="3584448"/>
            <a:ext cx="822960" cy="822960"/>
          </a:xfrm>
          <a:prstGeom prst="rect">
            <a:avLst/>
          </a:prstGeom>
          <a:noFill/>
          <a:ln/>
        </p:spPr>
        <p:txBody>
          <a:bodyPr wrap="square" lIns="0" tIns="0" rIns="0" bIns="0" rtlCol="0" anchor="ctr"/>
          <a:lstStyle/>
          <a:p>
            <a:pPr indent="0" marL="0">
              <a:buNone/>
            </a:pPr>
            <a:r>
              <a:rPr lang="en-US" sz="3200" dirty="0">
                <a:solidFill>
                  <a:schemeClr val="tx1"/>
                </a:solidFill>
              </a:rPr>
              <a:t>6</a:t>
            </a:r>
            <a:endParaRPr lang="en-US" sz="3200" dirty="0"/>
          </a:p>
        </p:txBody>
      </p:sp>
      <p:sp>
        <p:nvSpPr>
          <p:cNvPr id="54" name="Text 51"/>
          <p:cNvSpPr txBox="1"/>
          <p:nvPr/>
        </p:nvSpPr>
        <p:spPr>
          <a:xfrm>
            <a:off x="4251960" y="3584448"/>
            <a:ext cx="1463040" cy="822960"/>
          </a:xfrm>
          <a:prstGeom prst="rect">
            <a:avLst/>
          </a:prstGeom>
          <a:noFill/>
          <a:ln/>
        </p:spPr>
        <p:txBody>
          <a:bodyPr wrap="square" lIns="0" tIns="0" rIns="0" bIns="0" rtlCol="0" anchor="ctr"/>
          <a:lstStyle/>
          <a:p>
            <a:pPr indent="0" marL="0">
              <a:buNone/>
            </a:pPr>
            <a:r>
              <a:rPr lang="en-US" sz="1200" dirty="0">
                <a:solidFill>
                  <a:schemeClr val="tx2"/>
                </a:solidFill>
              </a:rPr>
              <a:t>SQL views feed the reports</a:t>
            </a:r>
            <a:endParaRPr lang="en-US" sz="1200" dirty="0"/>
          </a:p>
        </p:txBody>
      </p:sp>
      <p:sp>
        <p:nvSpPr>
          <p:cNvPr id="55" name="stat 3"/>
          <p:cNvSpPr/>
          <p:nvPr/>
        </p:nvSpPr>
        <p:spPr>
          <a:xfrm>
            <a:off x="6035040" y="3520440"/>
            <a:ext cx="2606040" cy="960120"/>
          </a:xfrm>
          <a:prstGeom prst="roundRect">
            <a:avLst>
              <a:gd name="adj" fmla="val 7619"/>
            </a:avLst>
          </a:prstGeom>
          <a:solidFill>
            <a:schemeClr val="bg1"/>
          </a:solidFill>
          <a:ln w="9525">
            <a:solidFill>
              <a:srgbClr val="DDE3E8"/>
            </a:solidFill>
            <a:prstDash val="solid"/>
          </a:ln>
        </p:spPr>
      </p:sp>
      <p:sp>
        <p:nvSpPr>
          <p:cNvPr id="56" name="Text 53"/>
          <p:cNvSpPr txBox="1"/>
          <p:nvPr/>
        </p:nvSpPr>
        <p:spPr>
          <a:xfrm>
            <a:off x="6217920" y="3584448"/>
            <a:ext cx="822960" cy="822960"/>
          </a:xfrm>
          <a:prstGeom prst="rect">
            <a:avLst/>
          </a:prstGeom>
          <a:noFill/>
          <a:ln/>
        </p:spPr>
        <p:txBody>
          <a:bodyPr wrap="square" lIns="0" tIns="0" rIns="0" bIns="0" rtlCol="0" anchor="ctr"/>
          <a:lstStyle/>
          <a:p>
            <a:pPr indent="0" marL="0">
              <a:buNone/>
            </a:pPr>
            <a:r>
              <a:rPr lang="en-US" sz="3200" dirty="0">
                <a:solidFill>
                  <a:schemeClr val="tx1"/>
                </a:solidFill>
              </a:rPr>
              <a:t>26</a:t>
            </a:r>
            <a:endParaRPr lang="en-US" sz="3200" dirty="0"/>
          </a:p>
        </p:txBody>
      </p:sp>
      <p:sp>
        <p:nvSpPr>
          <p:cNvPr id="57" name="Text 54"/>
          <p:cNvSpPr txBox="1"/>
          <p:nvPr/>
        </p:nvSpPr>
        <p:spPr>
          <a:xfrm>
            <a:off x="7040880" y="3584448"/>
            <a:ext cx="1463040" cy="822960"/>
          </a:xfrm>
          <a:prstGeom prst="rect">
            <a:avLst/>
          </a:prstGeom>
          <a:noFill/>
          <a:ln/>
        </p:spPr>
        <p:txBody>
          <a:bodyPr wrap="square" lIns="0" tIns="0" rIns="0" bIns="0" rtlCol="0" anchor="ctr"/>
          <a:lstStyle/>
          <a:p>
            <a:pPr indent="0" marL="0">
              <a:buNone/>
            </a:pPr>
            <a:r>
              <a:rPr lang="en-US" sz="1200" dirty="0">
                <a:solidFill>
                  <a:schemeClr val="tx2"/>
                </a:solidFill>
              </a:rPr>
              <a:t>users: 1 admin, 5 instructors, 20 learners</a:t>
            </a:r>
            <a:endParaRPr lang="en-US" sz="1200" dirty="0"/>
          </a:p>
        </p:txBody>
      </p:sp>
      <p:sp>
        <p:nvSpPr>
          <p:cNvPr id="25" name="Slide Number Placeholder 0"/>
          <p:cNvSpPr>
            <a:spLocks noGrp="1"/>
          </p:cNvSpPr>
          <p:nvPr>
            <p:ph type="sldNum" sz="quarter" idx="4294967295"/>
          </p:nvPr>
        </p:nvSpPr>
        <p:spPr>
          <a:xfrm>
            <a:off x="4572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680960" cy="685800"/>
          </a:xfrm>
          <a:prstGeom prst="rect">
            <a:avLst/>
          </a:prstGeom>
          <a:noFill/>
          <a:ln/>
        </p:spPr>
        <p:txBody>
          <a:bodyPr wrap="square" lIns="0" tIns="0" rIns="0" bIns="0" rtlCol="0" anchor="ctr"/>
          <a:lstStyle/>
          <a:p>
            <a:pPr algn="l" indent="0" marL="0">
              <a:buNone/>
            </a:pPr>
            <a:r>
              <a:rPr lang="en-US" sz="3000" dirty="0">
                <a:solidFill>
                  <a:schemeClr val="tx1"/>
                </a:solidFill>
              </a:rPr>
              <a:t>Admin mode: password access</a:t>
            </a:r>
            <a:endParaRPr lang="en-US" sz="3000" dirty="0"/>
          </a:p>
        </p:txBody>
      </p:sp>
      <p:sp>
        <p:nvSpPr>
          <p:cNvPr id="3" name="motif circle 1"/>
          <p:cNvSpPr/>
          <p:nvPr/>
        </p:nvSpPr>
        <p:spPr>
          <a:xfrm>
            <a:off x="7726680" y="4617720"/>
            <a:ext cx="365760" cy="365760"/>
          </a:xfrm>
          <a:prstGeom prst="ellipse">
            <a:avLst/>
          </a:prstGeom>
          <a:solidFill>
            <a:schemeClr val="accent1">
              <a:alpha val="0"/>
            </a:schemeClr>
          </a:solidFill>
          <a:ln w="12700">
            <a:solidFill>
              <a:schemeClr val="accent1"/>
            </a:solidFill>
            <a:prstDash val="solid"/>
          </a:ln>
        </p:spPr>
      </p:sp>
      <p:sp>
        <p:nvSpPr>
          <p:cNvPr id="4" name="motif circle 2"/>
          <p:cNvSpPr/>
          <p:nvPr/>
        </p:nvSpPr>
        <p:spPr>
          <a:xfrm>
            <a:off x="8037576" y="4617720"/>
            <a:ext cx="365760" cy="365760"/>
          </a:xfrm>
          <a:prstGeom prst="ellipse">
            <a:avLst/>
          </a:prstGeom>
          <a:solidFill>
            <a:schemeClr val="accent1">
              <a:alpha val="0"/>
            </a:schemeClr>
          </a:solidFill>
          <a:ln w="12700">
            <a:solidFill>
              <a:schemeClr val="accent1"/>
            </a:solidFill>
            <a:prstDash val="solid"/>
          </a:ln>
        </p:spPr>
      </p:sp>
      <p:sp>
        <p:nvSpPr>
          <p:cNvPr id="5" name="motif circle 3"/>
          <p:cNvSpPr/>
          <p:nvPr/>
        </p:nvSpPr>
        <p:spPr>
          <a:xfrm>
            <a:off x="8348472" y="4617720"/>
            <a:ext cx="365760" cy="365760"/>
          </a:xfrm>
          <a:prstGeom prst="ellipse">
            <a:avLst/>
          </a:prstGeom>
          <a:solidFill>
            <a:schemeClr val="accent1">
              <a:alpha val="0"/>
            </a:schemeClr>
          </a:solidFill>
          <a:ln w="12700">
            <a:solidFill>
              <a:schemeClr val="accent1"/>
            </a:solidFill>
            <a:prstDash val="solid"/>
          </a:ln>
        </p:spPr>
      </p:sp>
      <p:pic>
        <p:nvPicPr>
          <p:cNvPr id="7" name="Unlock admin mode dialog" descr="Unlock admin mode dialog">    </p:cNvPr>
          <p:cNvPicPr>
            <a:picLocks noChangeAspect="1"/>
          </p:cNvPicPr>
          <p:nvPr/>
        </p:nvPicPr>
        <p:blipFill>
          <a:blip r:embed="rId1"/>
          <a:stretch>
            <a:fillRect/>
          </a:stretch>
        </p:blipFill>
        <p:spPr>
          <a:xfrm>
            <a:off x="457200" y="1143000"/>
            <a:ext cx="4572000" cy="1970690"/>
          </a:xfrm>
          <a:prstGeom prst="rect">
            <a:avLst/>
          </a:prstGeom>
          <a:effectLst>
            <a:outerShdw sx="100000" sy="100000" kx="0" ky="0" algn="bl" rotWithShape="0" blurRad="101600" dist="38100" dir="5400000">
              <a:srgbClr val="000000">
                <a:alpha val="25000"/>
              </a:srgbClr>
            </a:outerShdw>
          </a:effectLst>
        </p:spPr>
      </p:pic>
      <p:sp>
        <p:nvSpPr>
          <p:cNvPr id="8" name="Text 4"/>
          <p:cNvSpPr txBox="1"/>
          <p:nvPr/>
        </p:nvSpPr>
        <p:spPr>
          <a:xfrm>
            <a:off x="5394960" y="1188720"/>
            <a:ext cx="329184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Admin mode button in the top bar</a:t>
            </a:r>
            <a:endParaRPr lang="en-US" sz="1400" dirty="0"/>
          </a:p>
          <a:p>
            <a:pPr marL="342900" indent="-342900">
              <a:spcAft>
                <a:spcPts val="800"/>
              </a:spcAft>
              <a:buSzPct val="100000"/>
              <a:buChar char="•"/>
            </a:pPr>
            <a:r>
              <a:rPr lang="en-US" sz="1400" dirty="0">
                <a:solidFill>
                  <a:schemeClr val="tx1"/>
                </a:solidFill>
              </a:rPr>
              <a:t>Password is checked by the server and kept in .env</a:t>
            </a:r>
            <a:endParaRPr lang="en-US" sz="1400" dirty="0"/>
          </a:p>
          <a:p>
            <a:pPr marL="342900" indent="-342900">
              <a:spcAft>
                <a:spcPts val="800"/>
              </a:spcAft>
              <a:buSzPct val="100000"/>
              <a:buChar char="•"/>
            </a:pPr>
            <a:r>
              <a:rPr lang="en-US" sz="1400" dirty="0">
                <a:solidFill>
                  <a:schemeClr val="tx1"/>
                </a:solidFill>
              </a:rPr>
              <a:t>Admin sidebar lists every table, view and action</a:t>
            </a:r>
            <a:endParaRPr lang="en-US" sz="1400" dirty="0"/>
          </a:p>
          <a:p>
            <a:pPr marL="342900" indent="-342900">
              <a:spcAft>
                <a:spcPts val="800"/>
              </a:spcAft>
              <a:buSzPct val="100000"/>
              <a:buChar char="•"/>
            </a:pPr>
            <a:r>
              <a:rPr lang="en-US" sz="1400" dirty="0">
                <a:solidFill>
                  <a:schemeClr val="tx1"/>
                </a:solidFill>
              </a:rPr>
              <a:t>Exit button returns to learner mode</a:t>
            </a:r>
            <a:endParaRPr lang="en-US" sz="1400" dirty="0"/>
          </a:p>
        </p:txBody>
      </p:sp>
      <p:sp>
        <p:nvSpPr>
          <p:cNvPr id="9" name="mode step 1"/>
          <p:cNvSpPr/>
          <p:nvPr/>
        </p:nvSpPr>
        <p:spPr>
          <a:xfrm>
            <a:off x="457200" y="3479450"/>
            <a:ext cx="2377440" cy="868680"/>
          </a:xfrm>
          <a:prstGeom prst="roundRect">
            <a:avLst>
              <a:gd name="adj" fmla="val 8421"/>
            </a:avLst>
          </a:prstGeom>
          <a:solidFill>
            <a:schemeClr val="bg1"/>
          </a:solidFill>
          <a:ln w="9525">
            <a:solidFill>
              <a:srgbClr val="DDE3E8"/>
            </a:solidFill>
            <a:prstDash val="solid"/>
          </a:ln>
        </p:spPr>
      </p:sp>
      <p:sp>
        <p:nvSpPr>
          <p:cNvPr id="10" name="Text 6"/>
          <p:cNvSpPr txBox="1"/>
          <p:nvPr/>
        </p:nvSpPr>
        <p:spPr>
          <a:xfrm>
            <a:off x="640080" y="3570890"/>
            <a:ext cx="2011680" cy="320040"/>
          </a:xfrm>
          <a:prstGeom prst="rect">
            <a:avLst/>
          </a:prstGeom>
          <a:noFill/>
          <a:ln/>
        </p:spPr>
        <p:txBody>
          <a:bodyPr wrap="square" lIns="0" tIns="0" rIns="0" bIns="0" rtlCol="0" anchor="ctr"/>
          <a:lstStyle/>
          <a:p>
            <a:pPr indent="0" marL="0">
              <a:buNone/>
            </a:pPr>
            <a:r>
              <a:rPr lang="en-US" sz="1500" b="1" dirty="0">
                <a:solidFill>
                  <a:schemeClr val="tx1"/>
                </a:solidFill>
              </a:rPr>
              <a:t>Learner mode</a:t>
            </a:r>
            <a:endParaRPr lang="en-US" sz="1500" dirty="0"/>
          </a:p>
        </p:txBody>
      </p:sp>
      <p:sp>
        <p:nvSpPr>
          <p:cNvPr id="11" name="Text 7"/>
          <p:cNvSpPr txBox="1"/>
          <p:nvPr/>
        </p:nvSpPr>
        <p:spPr>
          <a:xfrm>
            <a:off x="640080" y="3936650"/>
            <a:ext cx="2011680" cy="274320"/>
          </a:xfrm>
          <a:prstGeom prst="rect">
            <a:avLst/>
          </a:prstGeom>
          <a:noFill/>
          <a:ln/>
        </p:spPr>
        <p:txBody>
          <a:bodyPr wrap="square" lIns="0" tIns="0" rIns="0" bIns="0" rtlCol="0" anchor="ctr"/>
          <a:lstStyle/>
          <a:p>
            <a:pPr indent="0" marL="0">
              <a:buNone/>
            </a:pPr>
            <a:r>
              <a:rPr lang="en-US" sz="1200" dirty="0">
                <a:solidFill>
                  <a:schemeClr val="tx2"/>
                </a:solidFill>
              </a:rPr>
              <a:t>Open to everyone</a:t>
            </a:r>
            <a:endParaRPr lang="en-US" sz="1200" dirty="0"/>
          </a:p>
        </p:txBody>
      </p:sp>
      <p:sp>
        <p:nvSpPr>
          <p:cNvPr id="12" name="mode arrow 1"/>
          <p:cNvSpPr/>
          <p:nvPr/>
        </p:nvSpPr>
        <p:spPr>
          <a:xfrm>
            <a:off x="2880360" y="3753770"/>
            <a:ext cx="320040" cy="274320"/>
          </a:xfrm>
          <a:prstGeom prst="rightArrow">
            <a:avLst/>
          </a:prstGeom>
          <a:solidFill>
            <a:schemeClr val="accent5"/>
          </a:solidFill>
          <a:ln w="6350">
            <a:solidFill>
              <a:schemeClr val="accent5"/>
            </a:solidFill>
            <a:prstDash val="solid"/>
          </a:ln>
        </p:spPr>
      </p:sp>
      <p:sp>
        <p:nvSpPr>
          <p:cNvPr id="13" name="mode step 2"/>
          <p:cNvSpPr/>
          <p:nvPr/>
        </p:nvSpPr>
        <p:spPr>
          <a:xfrm>
            <a:off x="3246120" y="3479450"/>
            <a:ext cx="2377440" cy="868680"/>
          </a:xfrm>
          <a:prstGeom prst="roundRect">
            <a:avLst>
              <a:gd name="adj" fmla="val 8421"/>
            </a:avLst>
          </a:prstGeom>
          <a:solidFill>
            <a:schemeClr val="bg1"/>
          </a:solidFill>
          <a:ln w="9525">
            <a:solidFill>
              <a:srgbClr val="DDE3E8"/>
            </a:solidFill>
            <a:prstDash val="solid"/>
          </a:ln>
        </p:spPr>
      </p:sp>
      <p:sp>
        <p:nvSpPr>
          <p:cNvPr id="14" name="Text 10"/>
          <p:cNvSpPr txBox="1"/>
          <p:nvPr/>
        </p:nvSpPr>
        <p:spPr>
          <a:xfrm>
            <a:off x="3429000" y="3570890"/>
            <a:ext cx="2011680" cy="320040"/>
          </a:xfrm>
          <a:prstGeom prst="rect">
            <a:avLst/>
          </a:prstGeom>
          <a:noFill/>
          <a:ln/>
        </p:spPr>
        <p:txBody>
          <a:bodyPr wrap="square" lIns="0" tIns="0" rIns="0" bIns="0" rtlCol="0" anchor="ctr"/>
          <a:lstStyle/>
          <a:p>
            <a:pPr indent="0" marL="0">
              <a:buNone/>
            </a:pPr>
            <a:r>
              <a:rPr lang="en-US" sz="1500" b="1" dirty="0">
                <a:solidFill>
                  <a:schemeClr val="tx1"/>
                </a:solidFill>
              </a:rPr>
              <a:t>Instructor mode</a:t>
            </a:r>
            <a:endParaRPr lang="en-US" sz="1500" dirty="0"/>
          </a:p>
        </p:txBody>
      </p:sp>
      <p:sp>
        <p:nvSpPr>
          <p:cNvPr id="15" name="Text 11"/>
          <p:cNvSpPr txBox="1"/>
          <p:nvPr/>
        </p:nvSpPr>
        <p:spPr>
          <a:xfrm>
            <a:off x="3429000" y="3936650"/>
            <a:ext cx="2011680" cy="274320"/>
          </a:xfrm>
          <a:prstGeom prst="rect">
            <a:avLst/>
          </a:prstGeom>
          <a:noFill/>
          <a:ln/>
        </p:spPr>
        <p:txBody>
          <a:bodyPr wrap="square" lIns="0" tIns="0" rIns="0" bIns="0" rtlCol="0" anchor="ctr"/>
          <a:lstStyle/>
          <a:p>
            <a:pPr indent="0" marL="0">
              <a:buNone/>
            </a:pPr>
            <a:r>
              <a:rPr lang="en-US" sz="1200" dirty="0">
                <a:solidFill>
                  <a:schemeClr val="tx2"/>
                </a:solidFill>
              </a:rPr>
              <a:t>Profile and password</a:t>
            </a:r>
            <a:endParaRPr lang="en-US" sz="1200" dirty="0"/>
          </a:p>
        </p:txBody>
      </p:sp>
      <p:sp>
        <p:nvSpPr>
          <p:cNvPr id="16" name="mode arrow 2"/>
          <p:cNvSpPr/>
          <p:nvPr/>
        </p:nvSpPr>
        <p:spPr>
          <a:xfrm>
            <a:off x="5669280" y="3753770"/>
            <a:ext cx="320040" cy="274320"/>
          </a:xfrm>
          <a:prstGeom prst="rightArrow">
            <a:avLst/>
          </a:prstGeom>
          <a:solidFill>
            <a:schemeClr val="accent5"/>
          </a:solidFill>
          <a:ln w="6350">
            <a:solidFill>
              <a:schemeClr val="accent5"/>
            </a:solidFill>
            <a:prstDash val="solid"/>
          </a:ln>
        </p:spPr>
      </p:sp>
      <p:sp>
        <p:nvSpPr>
          <p:cNvPr id="17" name="mode step 3"/>
          <p:cNvSpPr/>
          <p:nvPr/>
        </p:nvSpPr>
        <p:spPr>
          <a:xfrm>
            <a:off x="6035040" y="3479450"/>
            <a:ext cx="2377440" cy="868680"/>
          </a:xfrm>
          <a:prstGeom prst="roundRect">
            <a:avLst>
              <a:gd name="adj" fmla="val 8421"/>
            </a:avLst>
          </a:prstGeom>
          <a:solidFill>
            <a:schemeClr val="bg1"/>
          </a:solidFill>
          <a:ln w="9525">
            <a:solidFill>
              <a:srgbClr val="DDE3E8"/>
            </a:solidFill>
            <a:prstDash val="solid"/>
          </a:ln>
        </p:spPr>
      </p:sp>
      <p:sp>
        <p:nvSpPr>
          <p:cNvPr id="18" name="Text 14"/>
          <p:cNvSpPr txBox="1"/>
          <p:nvPr/>
        </p:nvSpPr>
        <p:spPr>
          <a:xfrm>
            <a:off x="6217920" y="3570890"/>
            <a:ext cx="2011680" cy="320040"/>
          </a:xfrm>
          <a:prstGeom prst="rect">
            <a:avLst/>
          </a:prstGeom>
          <a:noFill/>
          <a:ln/>
        </p:spPr>
        <p:txBody>
          <a:bodyPr wrap="square" lIns="0" tIns="0" rIns="0" bIns="0" rtlCol="0" anchor="ctr"/>
          <a:lstStyle/>
          <a:p>
            <a:pPr indent="0" marL="0">
              <a:buNone/>
            </a:pPr>
            <a:r>
              <a:rPr lang="en-US" sz="1500" b="1" dirty="0">
                <a:solidFill>
                  <a:schemeClr val="tx1"/>
                </a:solidFill>
              </a:rPr>
              <a:t>Admin mode</a:t>
            </a:r>
            <a:endParaRPr lang="en-US" sz="1500" dirty="0"/>
          </a:p>
        </p:txBody>
      </p:sp>
      <p:sp>
        <p:nvSpPr>
          <p:cNvPr id="19" name="Text 15"/>
          <p:cNvSpPr txBox="1"/>
          <p:nvPr/>
        </p:nvSpPr>
        <p:spPr>
          <a:xfrm>
            <a:off x="6217920" y="3936650"/>
            <a:ext cx="2011680" cy="274320"/>
          </a:xfrm>
          <a:prstGeom prst="rect">
            <a:avLst/>
          </a:prstGeom>
          <a:noFill/>
          <a:ln/>
        </p:spPr>
        <p:txBody>
          <a:bodyPr wrap="square" lIns="0" tIns="0" rIns="0" bIns="0" rtlCol="0" anchor="ctr"/>
          <a:lstStyle/>
          <a:p>
            <a:pPr indent="0" marL="0">
              <a:buNone/>
            </a:pPr>
            <a:r>
              <a:rPr lang="en-US" sz="1200" dirty="0">
                <a:solidFill>
                  <a:schemeClr val="tx2"/>
                </a:solidFill>
              </a:rPr>
              <a:t>Password</a:t>
            </a:r>
            <a:endParaRPr lang="en-US" sz="1200" dirty="0"/>
          </a:p>
        </p:txBody>
      </p:sp>
      <p:sp>
        <p:nvSpPr>
          <p:cNvPr id="25" name="Slide Number Placeholder 0"/>
          <p:cNvSpPr>
            <a:spLocks noGrp="1"/>
          </p:cNvSpPr>
          <p:nvPr>
            <p:ph type="sldNum" sz="quarter" idx="4294967295"/>
          </p:nvPr>
        </p:nvSpPr>
        <p:spPr>
          <a:xfrm>
            <a:off x="4572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680960" cy="685800"/>
          </a:xfrm>
          <a:prstGeom prst="rect">
            <a:avLst/>
          </a:prstGeom>
          <a:noFill/>
          <a:ln/>
        </p:spPr>
        <p:txBody>
          <a:bodyPr wrap="square" lIns="0" tIns="0" rIns="0" bIns="0" rtlCol="0" anchor="ctr"/>
          <a:lstStyle/>
          <a:p>
            <a:pPr algn="l" indent="0" marL="0">
              <a:buNone/>
            </a:pPr>
            <a:r>
              <a:rPr lang="en-US" sz="3000" dirty="0">
                <a:solidFill>
                  <a:schemeClr val="tx1"/>
                </a:solidFill>
              </a:rPr>
              <a:t>Admin dashboard</a:t>
            </a:r>
            <a:endParaRPr lang="en-US" sz="3000" dirty="0"/>
          </a:p>
        </p:txBody>
      </p:sp>
      <p:sp>
        <p:nvSpPr>
          <p:cNvPr id="3" name="motif circle 1"/>
          <p:cNvSpPr/>
          <p:nvPr/>
        </p:nvSpPr>
        <p:spPr>
          <a:xfrm>
            <a:off x="7726680" y="4617720"/>
            <a:ext cx="365760" cy="365760"/>
          </a:xfrm>
          <a:prstGeom prst="ellipse">
            <a:avLst/>
          </a:prstGeom>
          <a:solidFill>
            <a:schemeClr val="accent1">
              <a:alpha val="0"/>
            </a:schemeClr>
          </a:solidFill>
          <a:ln w="12700">
            <a:solidFill>
              <a:schemeClr val="accent1"/>
            </a:solidFill>
            <a:prstDash val="solid"/>
          </a:ln>
        </p:spPr>
      </p:sp>
      <p:sp>
        <p:nvSpPr>
          <p:cNvPr id="4" name="motif circle 2"/>
          <p:cNvSpPr/>
          <p:nvPr/>
        </p:nvSpPr>
        <p:spPr>
          <a:xfrm>
            <a:off x="8037576" y="4617720"/>
            <a:ext cx="365760" cy="365760"/>
          </a:xfrm>
          <a:prstGeom prst="ellipse">
            <a:avLst/>
          </a:prstGeom>
          <a:solidFill>
            <a:schemeClr val="accent1">
              <a:alpha val="0"/>
            </a:schemeClr>
          </a:solidFill>
          <a:ln w="12700">
            <a:solidFill>
              <a:schemeClr val="accent1"/>
            </a:solidFill>
            <a:prstDash val="solid"/>
          </a:ln>
        </p:spPr>
      </p:sp>
      <p:sp>
        <p:nvSpPr>
          <p:cNvPr id="5" name="motif circle 3"/>
          <p:cNvSpPr/>
          <p:nvPr/>
        </p:nvSpPr>
        <p:spPr>
          <a:xfrm>
            <a:off x="8348472" y="4617720"/>
            <a:ext cx="365760" cy="365760"/>
          </a:xfrm>
          <a:prstGeom prst="ellipse">
            <a:avLst/>
          </a:prstGeom>
          <a:solidFill>
            <a:schemeClr val="accent1">
              <a:alpha val="0"/>
            </a:schemeClr>
          </a:solidFill>
          <a:ln w="12700">
            <a:solidFill>
              <a:schemeClr val="accent1"/>
            </a:solidFill>
            <a:prstDash val="solid"/>
          </a:ln>
        </p:spPr>
      </p:sp>
      <p:pic>
        <p:nvPicPr>
          <p:cNvPr id="7" name="Admin dashboard" descr="Admin dashboard">    </p:cNvPr>
          <p:cNvPicPr>
            <a:picLocks noChangeAspect="1"/>
          </p:cNvPicPr>
          <p:nvPr/>
        </p:nvPicPr>
        <p:blipFill>
          <a:blip r:embed="rId1"/>
          <a:stretch>
            <a:fillRect/>
          </a:stretch>
        </p:blipFill>
        <p:spPr>
          <a:xfrm>
            <a:off x="457200" y="1097280"/>
            <a:ext cx="5486400" cy="3416828"/>
          </a:xfrm>
          <a:prstGeom prst="rect">
            <a:avLst/>
          </a:prstGeom>
          <a:effectLst>
            <a:outerShdw sx="100000" sy="100000" kx="0" ky="0" algn="bl" rotWithShape="0" blurRad="101600" dist="38100" dir="5400000">
              <a:srgbClr val="000000">
                <a:alpha val="25000"/>
              </a:srgbClr>
            </a:outerShdw>
          </a:effectLst>
        </p:spPr>
      </p:pic>
      <p:sp>
        <p:nvSpPr>
          <p:cNvPr id="8" name="Text 4"/>
          <p:cNvSpPr txBox="1"/>
          <p:nvPr/>
        </p:nvSpPr>
        <p:spPr>
          <a:xfrm>
            <a:off x="6263640" y="1188720"/>
            <a:ext cx="2423160" cy="31089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Six KPI cards: users, courses, enrolments, completion rate, certificates, dropouts</a:t>
            </a:r>
            <a:endParaRPr lang="en-US" sz="1300" dirty="0"/>
          </a:p>
          <a:p>
            <a:pPr marL="342900" indent="-342900">
              <a:spcAft>
                <a:spcPts val="800"/>
              </a:spcAft>
              <a:buSzPct val="100000"/>
              <a:buChar char="•"/>
            </a:pPr>
            <a:r>
              <a:rPr lang="en-US" sz="1300" dirty="0">
                <a:solidFill>
                  <a:schemeClr val="tx1"/>
                </a:solidFill>
              </a:rPr>
              <a:t>Charts: enrolments per course, status breakdown, growth over time, average quiz scores</a:t>
            </a:r>
            <a:endParaRPr lang="en-US" sz="1300" dirty="0"/>
          </a:p>
          <a:p>
            <a:pPr marL="342900" indent="-342900">
              <a:spcAft>
                <a:spcPts val="800"/>
              </a:spcAft>
              <a:buSzPct val="100000"/>
              <a:buChar char="•"/>
            </a:pPr>
            <a:r>
              <a:rPr lang="en-US" sz="1300" dirty="0">
                <a:solidFill>
                  <a:schemeClr val="tx1"/>
                </a:solidFill>
              </a:rPr>
              <a:t>Sidebar shows all 14 tables with row counts and the 6 views</a:t>
            </a:r>
            <a:endParaRPr lang="en-US" sz="1300" dirty="0"/>
          </a:p>
        </p:txBody>
      </p:sp>
      <p:sp>
        <p:nvSpPr>
          <p:cNvPr id="25" name="Slide Number Placeholder 0"/>
          <p:cNvSpPr>
            <a:spLocks noGrp="1"/>
          </p:cNvSpPr>
          <p:nvPr>
            <p:ph type="sldNum" sz="quarter" idx="4294967295"/>
          </p:nvPr>
        </p:nvSpPr>
        <p:spPr>
          <a:xfrm>
            <a:off x="4572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680960" cy="685800"/>
          </a:xfrm>
          <a:prstGeom prst="rect">
            <a:avLst/>
          </a:prstGeom>
          <a:noFill/>
          <a:ln/>
        </p:spPr>
        <p:txBody>
          <a:bodyPr wrap="square" lIns="0" tIns="0" rIns="0" bIns="0" rtlCol="0" anchor="ctr"/>
          <a:lstStyle/>
          <a:p>
            <a:pPr algn="l" indent="0" marL="0">
              <a:buNone/>
            </a:pPr>
            <a:r>
              <a:rPr lang="en-US" sz="3000" dirty="0">
                <a:solidFill>
                  <a:schemeClr val="tx1"/>
                </a:solidFill>
              </a:rPr>
              <a:t>Live learner tracking</a:t>
            </a:r>
            <a:endParaRPr lang="en-US" sz="3000" dirty="0"/>
          </a:p>
        </p:txBody>
      </p:sp>
      <p:sp>
        <p:nvSpPr>
          <p:cNvPr id="3" name="motif circle 1"/>
          <p:cNvSpPr/>
          <p:nvPr/>
        </p:nvSpPr>
        <p:spPr>
          <a:xfrm>
            <a:off x="7726680" y="4617720"/>
            <a:ext cx="365760" cy="365760"/>
          </a:xfrm>
          <a:prstGeom prst="ellipse">
            <a:avLst/>
          </a:prstGeom>
          <a:solidFill>
            <a:schemeClr val="accent1">
              <a:alpha val="0"/>
            </a:schemeClr>
          </a:solidFill>
          <a:ln w="12700">
            <a:solidFill>
              <a:schemeClr val="accent1"/>
            </a:solidFill>
            <a:prstDash val="solid"/>
          </a:ln>
        </p:spPr>
      </p:sp>
      <p:sp>
        <p:nvSpPr>
          <p:cNvPr id="4" name="motif circle 2"/>
          <p:cNvSpPr/>
          <p:nvPr/>
        </p:nvSpPr>
        <p:spPr>
          <a:xfrm>
            <a:off x="8037576" y="4617720"/>
            <a:ext cx="365760" cy="365760"/>
          </a:xfrm>
          <a:prstGeom prst="ellipse">
            <a:avLst/>
          </a:prstGeom>
          <a:solidFill>
            <a:schemeClr val="accent1">
              <a:alpha val="0"/>
            </a:schemeClr>
          </a:solidFill>
          <a:ln w="12700">
            <a:solidFill>
              <a:schemeClr val="accent1"/>
            </a:solidFill>
            <a:prstDash val="solid"/>
          </a:ln>
        </p:spPr>
      </p:sp>
      <p:sp>
        <p:nvSpPr>
          <p:cNvPr id="5" name="motif circle 3"/>
          <p:cNvSpPr/>
          <p:nvPr/>
        </p:nvSpPr>
        <p:spPr>
          <a:xfrm>
            <a:off x="8348472" y="4617720"/>
            <a:ext cx="365760" cy="365760"/>
          </a:xfrm>
          <a:prstGeom prst="ellipse">
            <a:avLst/>
          </a:prstGeom>
          <a:solidFill>
            <a:schemeClr val="accent1">
              <a:alpha val="0"/>
            </a:schemeClr>
          </a:solidFill>
          <a:ln w="12700">
            <a:solidFill>
              <a:schemeClr val="accent1"/>
            </a:solidFill>
            <a:prstDash val="solid"/>
          </a:ln>
        </p:spPr>
      </p:sp>
      <p:pic>
        <p:nvPicPr>
          <p:cNvPr id="7" name="Recent enrolments and certificates" descr="Recent enrolments and certificates">    </p:cNvPr>
          <p:cNvPicPr>
            <a:picLocks noChangeAspect="1"/>
          </p:cNvPicPr>
          <p:nvPr/>
        </p:nvPicPr>
        <p:blipFill>
          <a:blip r:embed="rId1"/>
          <a:stretch>
            <a:fillRect/>
          </a:stretch>
        </p:blipFill>
        <p:spPr>
          <a:xfrm>
            <a:off x="457200" y="1188720"/>
            <a:ext cx="5486400" cy="2877281"/>
          </a:xfrm>
          <a:prstGeom prst="rect">
            <a:avLst/>
          </a:prstGeom>
          <a:effectLst>
            <a:outerShdw sx="100000" sy="100000" kx="0" ky="0" algn="bl" rotWithShape="0" blurRad="101600" dist="38100" dir="5400000">
              <a:srgbClr val="000000">
                <a:alpha val="25000"/>
              </a:srgbClr>
            </a:outerShdw>
          </a:effectLst>
        </p:spPr>
      </p:pic>
      <p:sp>
        <p:nvSpPr>
          <p:cNvPr id="8" name="Text 4"/>
          <p:cNvSpPr txBox="1"/>
          <p:nvPr/>
        </p:nvSpPr>
        <p:spPr>
          <a:xfrm>
            <a:off x="6263640" y="1188720"/>
            <a:ext cx="2423160" cy="31089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Recent enrolments with status and progress</a:t>
            </a:r>
            <a:endParaRPr lang="en-US" sz="1300" dirty="0"/>
          </a:p>
          <a:p>
            <a:pPr marL="342900" indent="-342900">
              <a:spcAft>
                <a:spcPts val="800"/>
              </a:spcAft>
              <a:buSzPct val="100000"/>
              <a:buChar char="•"/>
            </a:pPr>
            <a:r>
              <a:rPr lang="en-US" sz="1300" dirty="0">
                <a:solidFill>
                  <a:schemeClr val="tx1"/>
                </a:solidFill>
              </a:rPr>
              <a:t>Recent certificates with verification codes</a:t>
            </a:r>
            <a:endParaRPr lang="en-US" sz="1300" dirty="0"/>
          </a:p>
          <a:p>
            <a:pPr marL="342900" indent="-342900">
              <a:spcAft>
                <a:spcPts val="800"/>
              </a:spcAft>
              <a:buSzPct val="100000"/>
              <a:buChar char="•"/>
            </a:pPr>
            <a:r>
              <a:rPr lang="en-US" sz="1300" dirty="0">
                <a:solidFill>
                  <a:schemeClr val="tx1"/>
                </a:solidFill>
              </a:rPr>
              <a:t>Top completers by finished courses</a:t>
            </a:r>
            <a:endParaRPr lang="en-US" sz="1300" dirty="0"/>
          </a:p>
          <a:p>
            <a:pPr marL="342900" indent="-342900">
              <a:spcAft>
                <a:spcPts val="800"/>
              </a:spcAft>
              <a:buSzPct val="100000"/>
              <a:buChar char="•"/>
            </a:pPr>
            <a:r>
              <a:rPr lang="en-US" sz="1300" dirty="0">
                <a:solidFill>
                  <a:schemeClr val="tx1"/>
                </a:solidFill>
              </a:rPr>
              <a:t>Progress is calculated in the database</a:t>
            </a:r>
            <a:endParaRPr lang="en-US" sz="1300" dirty="0"/>
          </a:p>
        </p:txBody>
      </p:sp>
      <p:sp>
        <p:nvSpPr>
          <p:cNvPr id="25" name="Slide Number Placeholder 0"/>
          <p:cNvSpPr>
            <a:spLocks noGrp="1"/>
          </p:cNvSpPr>
          <p:nvPr>
            <p:ph type="sldNum" sz="quarter" idx="4294967295"/>
          </p:nvPr>
        </p:nvSpPr>
        <p:spPr>
          <a:xfrm>
            <a:off x="4572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680960" cy="685800"/>
          </a:xfrm>
          <a:prstGeom prst="rect">
            <a:avLst/>
          </a:prstGeom>
          <a:noFill/>
          <a:ln/>
        </p:spPr>
        <p:txBody>
          <a:bodyPr wrap="square" lIns="0" tIns="0" rIns="0" bIns="0" rtlCol="0" anchor="ctr"/>
          <a:lstStyle/>
          <a:p>
            <a:pPr algn="l" indent="0" marL="0">
              <a:buNone/>
            </a:pPr>
            <a:r>
              <a:rPr lang="en-US" sz="3000" dirty="0">
                <a:solidFill>
                  <a:schemeClr val="tx1"/>
                </a:solidFill>
              </a:rPr>
              <a:t>Every table with full CRUD</a:t>
            </a:r>
            <a:endParaRPr lang="en-US" sz="3000" dirty="0"/>
          </a:p>
        </p:txBody>
      </p:sp>
      <p:sp>
        <p:nvSpPr>
          <p:cNvPr id="3" name="motif circle 1"/>
          <p:cNvSpPr/>
          <p:nvPr/>
        </p:nvSpPr>
        <p:spPr>
          <a:xfrm>
            <a:off x="7726680" y="4617720"/>
            <a:ext cx="365760" cy="365760"/>
          </a:xfrm>
          <a:prstGeom prst="ellipse">
            <a:avLst/>
          </a:prstGeom>
          <a:solidFill>
            <a:schemeClr val="accent1">
              <a:alpha val="0"/>
            </a:schemeClr>
          </a:solidFill>
          <a:ln w="12700">
            <a:solidFill>
              <a:schemeClr val="accent1"/>
            </a:solidFill>
            <a:prstDash val="solid"/>
          </a:ln>
        </p:spPr>
      </p:sp>
      <p:sp>
        <p:nvSpPr>
          <p:cNvPr id="4" name="motif circle 2"/>
          <p:cNvSpPr/>
          <p:nvPr/>
        </p:nvSpPr>
        <p:spPr>
          <a:xfrm>
            <a:off x="8037576" y="4617720"/>
            <a:ext cx="365760" cy="365760"/>
          </a:xfrm>
          <a:prstGeom prst="ellipse">
            <a:avLst/>
          </a:prstGeom>
          <a:solidFill>
            <a:schemeClr val="accent1">
              <a:alpha val="0"/>
            </a:schemeClr>
          </a:solidFill>
          <a:ln w="12700">
            <a:solidFill>
              <a:schemeClr val="accent1"/>
            </a:solidFill>
            <a:prstDash val="solid"/>
          </a:ln>
        </p:spPr>
      </p:sp>
      <p:sp>
        <p:nvSpPr>
          <p:cNvPr id="5" name="motif circle 3"/>
          <p:cNvSpPr/>
          <p:nvPr/>
        </p:nvSpPr>
        <p:spPr>
          <a:xfrm>
            <a:off x="8348472" y="4617720"/>
            <a:ext cx="365760" cy="365760"/>
          </a:xfrm>
          <a:prstGeom prst="ellipse">
            <a:avLst/>
          </a:prstGeom>
          <a:solidFill>
            <a:schemeClr val="accent1">
              <a:alpha val="0"/>
            </a:schemeClr>
          </a:solidFill>
          <a:ln w="12700">
            <a:solidFill>
              <a:schemeClr val="accent1"/>
            </a:solidFill>
            <a:prstDash val="solid"/>
          </a:ln>
        </p:spPr>
      </p:sp>
      <p:pic>
        <p:nvPicPr>
          <p:cNvPr id="7" name="Users table in admin mode" descr="Users table in admin mode">    </p:cNvPr>
          <p:cNvPicPr>
            <a:picLocks noChangeAspect="1"/>
          </p:cNvPicPr>
          <p:nvPr/>
        </p:nvPicPr>
        <p:blipFill>
          <a:blip r:embed="rId1"/>
          <a:stretch>
            <a:fillRect/>
          </a:stretch>
        </p:blipFill>
        <p:spPr>
          <a:xfrm>
            <a:off x="457200" y="1188720"/>
            <a:ext cx="5486400" cy="2904701"/>
          </a:xfrm>
          <a:prstGeom prst="rect">
            <a:avLst/>
          </a:prstGeom>
          <a:effectLst>
            <a:outerShdw sx="100000" sy="100000" kx="0" ky="0" algn="bl" rotWithShape="0" blurRad="101600" dist="38100" dir="5400000">
              <a:srgbClr val="000000">
                <a:alpha val="25000"/>
              </a:srgbClr>
            </a:outerShdw>
          </a:effectLst>
        </p:spPr>
      </p:pic>
      <p:sp>
        <p:nvSpPr>
          <p:cNvPr id="8" name="Text 4"/>
          <p:cNvSpPr txBox="1"/>
          <p:nvPr/>
        </p:nvSpPr>
        <p:spPr>
          <a:xfrm>
            <a:off x="6263640" y="1188720"/>
            <a:ext cx="2423160" cy="31089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Search, sort and filter rows</a:t>
            </a:r>
            <a:endParaRPr lang="en-US" sz="1300" dirty="0"/>
          </a:p>
          <a:p>
            <a:pPr marL="342900" indent="-342900">
              <a:spcAft>
                <a:spcPts val="800"/>
              </a:spcAft>
              <a:buSzPct val="100000"/>
              <a:buChar char="•"/>
            </a:pPr>
            <a:r>
              <a:rPr lang="en-US" sz="1300" dirty="0">
                <a:solidFill>
                  <a:schemeClr val="tx1"/>
                </a:solidFill>
              </a:rPr>
              <a:t>Add, view, edit and delete from any table</a:t>
            </a:r>
            <a:endParaRPr lang="en-US" sz="1300" dirty="0"/>
          </a:p>
          <a:p>
            <a:pPr marL="342900" indent="-342900">
              <a:spcAft>
                <a:spcPts val="800"/>
              </a:spcAft>
              <a:buSzPct val="100000"/>
              <a:buChar char="•"/>
            </a:pPr>
            <a:r>
              <a:rPr lang="en-US" sz="1300" dirty="0">
                <a:solidFill>
                  <a:schemeClr val="tx1"/>
                </a:solidFill>
              </a:rPr>
              <a:t>Schema and Indexes tab for each table</a:t>
            </a:r>
            <a:endParaRPr lang="en-US" sz="1300" dirty="0"/>
          </a:p>
          <a:p>
            <a:pPr marL="342900" indent="-342900">
              <a:spcAft>
                <a:spcPts val="800"/>
              </a:spcAft>
              <a:buSzPct val="100000"/>
              <a:buChar char="•"/>
            </a:pPr>
            <a:r>
              <a:rPr lang="en-US" sz="1300" dirty="0">
                <a:solidFill>
                  <a:schemeClr val="tx1"/>
                </a:solidFill>
              </a:rPr>
              <a:t>Primary keys marked, foreign keys resolved</a:t>
            </a:r>
            <a:endParaRPr lang="en-US" sz="1300" dirty="0"/>
          </a:p>
        </p:txBody>
      </p:sp>
      <p:sp>
        <p:nvSpPr>
          <p:cNvPr id="25" name="Slide Number Placeholder 0"/>
          <p:cNvSpPr>
            <a:spLocks noGrp="1"/>
          </p:cNvSpPr>
          <p:nvPr>
            <p:ph type="sldNum" sz="quarter" idx="4294967295"/>
          </p:nvPr>
        </p:nvSpPr>
        <p:spPr>
          <a:xfrm>
            <a:off x="4572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680960" cy="685800"/>
          </a:xfrm>
          <a:prstGeom prst="rect">
            <a:avLst/>
          </a:prstGeom>
          <a:noFill/>
          <a:ln/>
        </p:spPr>
        <p:txBody>
          <a:bodyPr wrap="square" lIns="0" tIns="0" rIns="0" bIns="0" rtlCol="0" anchor="ctr"/>
          <a:lstStyle/>
          <a:p>
            <a:pPr algn="l" indent="0" marL="0">
              <a:buNone/>
            </a:pPr>
            <a:r>
              <a:rPr lang="en-US" sz="3000" dirty="0">
                <a:solidFill>
                  <a:schemeClr val="tx1"/>
                </a:solidFill>
              </a:rPr>
              <a:t>Course publishing and validation</a:t>
            </a:r>
            <a:endParaRPr lang="en-US" sz="3000" dirty="0"/>
          </a:p>
        </p:txBody>
      </p:sp>
      <p:sp>
        <p:nvSpPr>
          <p:cNvPr id="3" name="motif circle 1"/>
          <p:cNvSpPr/>
          <p:nvPr/>
        </p:nvSpPr>
        <p:spPr>
          <a:xfrm>
            <a:off x="7726680" y="4617720"/>
            <a:ext cx="365760" cy="365760"/>
          </a:xfrm>
          <a:prstGeom prst="ellipse">
            <a:avLst/>
          </a:prstGeom>
          <a:solidFill>
            <a:schemeClr val="accent1">
              <a:alpha val="0"/>
            </a:schemeClr>
          </a:solidFill>
          <a:ln w="12700">
            <a:solidFill>
              <a:schemeClr val="accent1"/>
            </a:solidFill>
            <a:prstDash val="solid"/>
          </a:ln>
        </p:spPr>
      </p:sp>
      <p:sp>
        <p:nvSpPr>
          <p:cNvPr id="4" name="motif circle 2"/>
          <p:cNvSpPr/>
          <p:nvPr/>
        </p:nvSpPr>
        <p:spPr>
          <a:xfrm>
            <a:off x="8037576" y="4617720"/>
            <a:ext cx="365760" cy="365760"/>
          </a:xfrm>
          <a:prstGeom prst="ellipse">
            <a:avLst/>
          </a:prstGeom>
          <a:solidFill>
            <a:schemeClr val="accent1">
              <a:alpha val="0"/>
            </a:schemeClr>
          </a:solidFill>
          <a:ln w="12700">
            <a:solidFill>
              <a:schemeClr val="accent1"/>
            </a:solidFill>
            <a:prstDash val="solid"/>
          </a:ln>
        </p:spPr>
      </p:sp>
      <p:sp>
        <p:nvSpPr>
          <p:cNvPr id="5" name="motif circle 3"/>
          <p:cNvSpPr/>
          <p:nvPr/>
        </p:nvSpPr>
        <p:spPr>
          <a:xfrm>
            <a:off x="8348472" y="4617720"/>
            <a:ext cx="365760" cy="365760"/>
          </a:xfrm>
          <a:prstGeom prst="ellipse">
            <a:avLst/>
          </a:prstGeom>
          <a:solidFill>
            <a:schemeClr val="accent1">
              <a:alpha val="0"/>
            </a:schemeClr>
          </a:solidFill>
          <a:ln w="12700">
            <a:solidFill>
              <a:schemeClr val="accent1"/>
            </a:solidFill>
            <a:prstDash val="solid"/>
          </a:ln>
        </p:spPr>
      </p:sp>
      <p:pic>
        <p:nvPicPr>
          <p:cNvPr id="7" name="Create course form" descr="Create course form">    </p:cNvPr>
          <p:cNvPicPr>
            <a:picLocks noChangeAspect="1"/>
          </p:cNvPicPr>
          <p:nvPr/>
        </p:nvPicPr>
        <p:blipFill>
          <a:blip r:embed="rId1"/>
          <a:stretch>
            <a:fillRect/>
          </a:stretch>
        </p:blipFill>
        <p:spPr>
          <a:xfrm>
            <a:off x="457200" y="1188720"/>
            <a:ext cx="3017520" cy="2685343"/>
          </a:xfrm>
          <a:prstGeom prst="rect">
            <a:avLst/>
          </a:prstGeom>
          <a:effectLst>
            <a:outerShdw sx="100000" sy="100000" kx="0" ky="0" algn="bl" rotWithShape="0" blurRad="101600" dist="38100" dir="5400000">
              <a:srgbClr val="000000">
                <a:alpha val="25000"/>
              </a:srgbClr>
            </a:outerShdw>
          </a:effectLst>
        </p:spPr>
      </p:pic>
      <p:pic>
        <p:nvPicPr>
          <p:cNvPr id="8" name="Add question form" descr="Add question form">    </p:cNvPr>
          <p:cNvPicPr>
            <a:picLocks noChangeAspect="1"/>
          </p:cNvPicPr>
          <p:nvPr/>
        </p:nvPicPr>
        <p:blipFill>
          <a:blip r:embed="rId2"/>
          <a:stretch>
            <a:fillRect/>
          </a:stretch>
        </p:blipFill>
        <p:spPr>
          <a:xfrm>
            <a:off x="3703320" y="1188720"/>
            <a:ext cx="2834640" cy="2736139"/>
          </a:xfrm>
          <a:prstGeom prst="rect">
            <a:avLst/>
          </a:prstGeom>
          <a:effectLst>
            <a:outerShdw sx="100000" sy="100000" kx="0" ky="0" algn="bl" rotWithShape="0" blurRad="101600" dist="38100" dir="5400000">
              <a:srgbClr val="000000">
                <a:alpha val="25000"/>
              </a:srgbClr>
            </a:outerShdw>
          </a:effectLst>
        </p:spPr>
      </p:pic>
      <p:sp>
        <p:nvSpPr>
          <p:cNvPr id="9" name="Text 4"/>
          <p:cNvSpPr txBox="1"/>
          <p:nvPr/>
        </p:nvSpPr>
        <p:spPr>
          <a:xfrm>
            <a:off x="6766560" y="1188720"/>
            <a:ext cx="1920240" cy="32004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chemeClr val="tx1"/>
                </a:solidFill>
              </a:rPr>
              <a:t>Course form: title, category, instructor, difficulty, status and pass score</a:t>
            </a:r>
            <a:endParaRPr lang="en-US" sz="1200" dirty="0"/>
          </a:p>
          <a:p>
            <a:pPr marL="342900" indent="-342900">
              <a:spcAft>
                <a:spcPts val="800"/>
              </a:spcAft>
              <a:buSzPct val="100000"/>
              <a:buChar char="•"/>
            </a:pPr>
            <a:r>
              <a:rPr lang="en-US" sz="1200" dirty="0">
                <a:solidFill>
                  <a:schemeClr val="tx1"/>
                </a:solidFill>
              </a:rPr>
              <a:t>Empty required fields are blocked with a message</a:t>
            </a:r>
            <a:endParaRPr lang="en-US" sz="1200" dirty="0"/>
          </a:p>
          <a:p>
            <a:pPr marL="342900" indent="-342900">
              <a:spcAft>
                <a:spcPts val="800"/>
              </a:spcAft>
              <a:buSzPct val="100000"/>
              <a:buChar char="•"/>
            </a:pPr>
            <a:r>
              <a:rPr lang="en-US" sz="1200" dirty="0">
                <a:solidFill>
                  <a:schemeClr val="tx1"/>
                </a:solidFill>
              </a:rPr>
              <a:t>Question form: four options, one marked correct</a:t>
            </a:r>
            <a:endParaRPr lang="en-US" sz="1200" dirty="0"/>
          </a:p>
        </p:txBody>
      </p:sp>
      <p:sp>
        <p:nvSpPr>
          <p:cNvPr id="25" name="Slide Number Placeholder 0"/>
          <p:cNvSpPr>
            <a:spLocks noGrp="1"/>
          </p:cNvSpPr>
          <p:nvPr>
            <p:ph type="sldNum" sz="quarter" idx="4294967295"/>
          </p:nvPr>
        </p:nvSpPr>
        <p:spPr>
          <a:xfrm>
            <a:off x="4572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680960" cy="685800"/>
          </a:xfrm>
          <a:prstGeom prst="rect">
            <a:avLst/>
          </a:prstGeom>
          <a:noFill/>
          <a:ln/>
        </p:spPr>
        <p:txBody>
          <a:bodyPr wrap="square" lIns="0" tIns="0" rIns="0" bIns="0" rtlCol="0" anchor="ctr"/>
          <a:lstStyle/>
          <a:p>
            <a:pPr algn="l" indent="0" marL="0">
              <a:buNone/>
            </a:pPr>
            <a:r>
              <a:rPr lang="en-US" sz="3000" dirty="0">
                <a:solidFill>
                  <a:schemeClr val="tx1"/>
                </a:solidFill>
              </a:rPr>
              <a:t>Assessment and question builder</a:t>
            </a:r>
            <a:endParaRPr lang="en-US" sz="3000" dirty="0"/>
          </a:p>
        </p:txBody>
      </p:sp>
      <p:sp>
        <p:nvSpPr>
          <p:cNvPr id="3" name="motif circle 1"/>
          <p:cNvSpPr/>
          <p:nvPr/>
        </p:nvSpPr>
        <p:spPr>
          <a:xfrm>
            <a:off x="7726680" y="4617720"/>
            <a:ext cx="365760" cy="365760"/>
          </a:xfrm>
          <a:prstGeom prst="ellipse">
            <a:avLst/>
          </a:prstGeom>
          <a:solidFill>
            <a:schemeClr val="accent1">
              <a:alpha val="0"/>
            </a:schemeClr>
          </a:solidFill>
          <a:ln w="12700">
            <a:solidFill>
              <a:schemeClr val="accent1"/>
            </a:solidFill>
            <a:prstDash val="solid"/>
          </a:ln>
        </p:spPr>
      </p:sp>
      <p:sp>
        <p:nvSpPr>
          <p:cNvPr id="4" name="motif circle 2"/>
          <p:cNvSpPr/>
          <p:nvPr/>
        </p:nvSpPr>
        <p:spPr>
          <a:xfrm>
            <a:off x="8037576" y="4617720"/>
            <a:ext cx="365760" cy="365760"/>
          </a:xfrm>
          <a:prstGeom prst="ellipse">
            <a:avLst/>
          </a:prstGeom>
          <a:solidFill>
            <a:schemeClr val="accent1">
              <a:alpha val="0"/>
            </a:schemeClr>
          </a:solidFill>
          <a:ln w="12700">
            <a:solidFill>
              <a:schemeClr val="accent1"/>
            </a:solidFill>
            <a:prstDash val="solid"/>
          </a:ln>
        </p:spPr>
      </p:sp>
      <p:sp>
        <p:nvSpPr>
          <p:cNvPr id="5" name="motif circle 3"/>
          <p:cNvSpPr/>
          <p:nvPr/>
        </p:nvSpPr>
        <p:spPr>
          <a:xfrm>
            <a:off x="8348472" y="4617720"/>
            <a:ext cx="365760" cy="365760"/>
          </a:xfrm>
          <a:prstGeom prst="ellipse">
            <a:avLst/>
          </a:prstGeom>
          <a:solidFill>
            <a:schemeClr val="accent1">
              <a:alpha val="0"/>
            </a:schemeClr>
          </a:solidFill>
          <a:ln w="12700">
            <a:solidFill>
              <a:schemeClr val="accent1"/>
            </a:solidFill>
            <a:prstDash val="solid"/>
          </a:ln>
        </p:spPr>
      </p:sp>
      <p:pic>
        <p:nvPicPr>
          <p:cNvPr id="7" name="Assessment builder" descr="Assessment builder">    </p:cNvPr>
          <p:cNvPicPr>
            <a:picLocks noChangeAspect="1"/>
          </p:cNvPicPr>
          <p:nvPr/>
        </p:nvPicPr>
        <p:blipFill>
          <a:blip r:embed="rId1"/>
          <a:stretch>
            <a:fillRect/>
          </a:stretch>
        </p:blipFill>
        <p:spPr>
          <a:xfrm>
            <a:off x="457200" y="1097280"/>
            <a:ext cx="4480560" cy="3392821"/>
          </a:xfrm>
          <a:prstGeom prst="rect">
            <a:avLst/>
          </a:prstGeom>
          <a:effectLst>
            <a:outerShdw sx="100000" sy="100000" kx="0" ky="0" algn="bl" rotWithShape="0" blurRad="101600" dist="38100" dir="5400000">
              <a:srgbClr val="000000">
                <a:alpha val="25000"/>
              </a:srgbClr>
            </a:outerShdw>
          </a:effectLst>
        </p:spPr>
      </p:pic>
      <p:sp>
        <p:nvSpPr>
          <p:cNvPr id="8" name="Text 4"/>
          <p:cNvSpPr txBox="1"/>
          <p:nvPr/>
        </p:nvSpPr>
        <p:spPr>
          <a:xfrm>
            <a:off x="5257800" y="1188720"/>
            <a:ext cx="342900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Nine quizzes listed with pass mark and max tries</a:t>
            </a:r>
            <a:endParaRPr lang="en-US" sz="1400" dirty="0"/>
          </a:p>
          <a:p>
            <a:pPr marL="342900" indent="-342900">
              <a:spcAft>
                <a:spcPts val="800"/>
              </a:spcAft>
              <a:buSzPct val="100000"/>
              <a:buChar char="•"/>
            </a:pPr>
            <a:r>
              <a:rPr lang="en-US" sz="1400" dirty="0">
                <a:solidFill>
                  <a:schemeClr val="tx1"/>
                </a:solidFill>
              </a:rPr>
              <a:t>Each question has options A to D with the correct key highlighted</a:t>
            </a:r>
            <a:endParaRPr lang="en-US" sz="1400" dirty="0"/>
          </a:p>
          <a:p>
            <a:pPr marL="342900" indent="-342900">
              <a:spcAft>
                <a:spcPts val="800"/>
              </a:spcAft>
              <a:buSzPct val="100000"/>
              <a:buChar char="•"/>
            </a:pPr>
            <a:r>
              <a:rPr lang="en-US" sz="1400" dirty="0">
                <a:solidFill>
                  <a:schemeClr val="tx1"/>
                </a:solidFill>
              </a:rPr>
              <a:t>Every question carries 20 marks</a:t>
            </a:r>
            <a:endParaRPr lang="en-US" sz="1400" dirty="0"/>
          </a:p>
          <a:p>
            <a:pPr marL="342900" indent="-342900">
              <a:spcAft>
                <a:spcPts val="800"/>
              </a:spcAft>
              <a:buSzPct val="100000"/>
              <a:buChar char="•"/>
            </a:pPr>
            <a:r>
              <a:rPr lang="en-US" sz="1400" dirty="0">
                <a:solidFill>
                  <a:schemeClr val="tx1"/>
                </a:solidFill>
              </a:rPr>
              <a:t>Add or delete questions from the builder</a:t>
            </a:r>
            <a:endParaRPr lang="en-US" sz="1400" dirty="0"/>
          </a:p>
        </p:txBody>
      </p:sp>
      <p:sp>
        <p:nvSpPr>
          <p:cNvPr id="25" name="Slide Number Placeholder 0"/>
          <p:cNvSpPr>
            <a:spLocks noGrp="1"/>
          </p:cNvSpPr>
          <p:nvPr>
            <p:ph type="sldNum" sz="quarter" idx="4294967295"/>
          </p:nvPr>
        </p:nvSpPr>
        <p:spPr>
          <a:xfrm>
            <a:off x="4572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680960" cy="685800"/>
          </a:xfrm>
          <a:prstGeom prst="rect">
            <a:avLst/>
          </a:prstGeom>
          <a:noFill/>
          <a:ln/>
        </p:spPr>
        <p:txBody>
          <a:bodyPr wrap="square" lIns="0" tIns="0" rIns="0" bIns="0" rtlCol="0" anchor="ctr"/>
          <a:lstStyle/>
          <a:p>
            <a:pPr algn="l" indent="0" marL="0">
              <a:buNone/>
            </a:pPr>
            <a:r>
              <a:rPr lang="en-US" sz="3000" dirty="0">
                <a:solidFill>
                  <a:schemeClr val="tx1"/>
                </a:solidFill>
              </a:rPr>
              <a:t>Reports and analytics</a:t>
            </a:r>
            <a:endParaRPr lang="en-US" sz="3000" dirty="0"/>
          </a:p>
        </p:txBody>
      </p:sp>
      <p:sp>
        <p:nvSpPr>
          <p:cNvPr id="3" name="motif circle 1"/>
          <p:cNvSpPr/>
          <p:nvPr/>
        </p:nvSpPr>
        <p:spPr>
          <a:xfrm>
            <a:off x="7726680" y="4617720"/>
            <a:ext cx="365760" cy="365760"/>
          </a:xfrm>
          <a:prstGeom prst="ellipse">
            <a:avLst/>
          </a:prstGeom>
          <a:solidFill>
            <a:schemeClr val="accent1">
              <a:alpha val="0"/>
            </a:schemeClr>
          </a:solidFill>
          <a:ln w="12700">
            <a:solidFill>
              <a:schemeClr val="accent1"/>
            </a:solidFill>
            <a:prstDash val="solid"/>
          </a:ln>
        </p:spPr>
      </p:sp>
      <p:sp>
        <p:nvSpPr>
          <p:cNvPr id="4" name="motif circle 2"/>
          <p:cNvSpPr/>
          <p:nvPr/>
        </p:nvSpPr>
        <p:spPr>
          <a:xfrm>
            <a:off x="8037576" y="4617720"/>
            <a:ext cx="365760" cy="365760"/>
          </a:xfrm>
          <a:prstGeom prst="ellipse">
            <a:avLst/>
          </a:prstGeom>
          <a:solidFill>
            <a:schemeClr val="accent1">
              <a:alpha val="0"/>
            </a:schemeClr>
          </a:solidFill>
          <a:ln w="12700">
            <a:solidFill>
              <a:schemeClr val="accent1"/>
            </a:solidFill>
            <a:prstDash val="solid"/>
          </a:ln>
        </p:spPr>
      </p:sp>
      <p:sp>
        <p:nvSpPr>
          <p:cNvPr id="5" name="motif circle 3"/>
          <p:cNvSpPr/>
          <p:nvPr/>
        </p:nvSpPr>
        <p:spPr>
          <a:xfrm>
            <a:off x="8348472" y="4617720"/>
            <a:ext cx="365760" cy="365760"/>
          </a:xfrm>
          <a:prstGeom prst="ellipse">
            <a:avLst/>
          </a:prstGeom>
          <a:solidFill>
            <a:schemeClr val="accent1">
              <a:alpha val="0"/>
            </a:schemeClr>
          </a:solidFill>
          <a:ln w="12700">
            <a:solidFill>
              <a:schemeClr val="accent1"/>
            </a:solidFill>
            <a:prstDash val="solid"/>
          </a:ln>
        </p:spPr>
      </p:sp>
      <p:pic>
        <p:nvPicPr>
          <p:cNvPr id="7" name="Reports and analytics" descr="Reports and analytics">    </p:cNvPr>
          <p:cNvPicPr>
            <a:picLocks noChangeAspect="1"/>
          </p:cNvPicPr>
          <p:nvPr/>
        </p:nvPicPr>
        <p:blipFill>
          <a:blip r:embed="rId1"/>
          <a:stretch>
            <a:fillRect/>
          </a:stretch>
        </p:blipFill>
        <p:spPr>
          <a:xfrm>
            <a:off x="457200" y="1097280"/>
            <a:ext cx="5486400" cy="3416828"/>
          </a:xfrm>
          <a:prstGeom prst="rect">
            <a:avLst/>
          </a:prstGeom>
          <a:effectLst>
            <a:outerShdw sx="100000" sy="100000" kx="0" ky="0" algn="bl" rotWithShape="0" blurRad="101600" dist="38100" dir="5400000">
              <a:srgbClr val="000000">
                <a:alpha val="25000"/>
              </a:srgbClr>
            </a:outerShdw>
          </a:effectLst>
        </p:spPr>
      </p:pic>
      <p:sp>
        <p:nvSpPr>
          <p:cNvPr id="8" name="Text 4"/>
          <p:cNvSpPr txBox="1"/>
          <p:nvPr/>
        </p:nvSpPr>
        <p:spPr>
          <a:xfrm>
            <a:off x="6263640" y="1188720"/>
            <a:ext cx="2423160" cy="31089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Six tabs: course completion, learner progress, dropout, quiz performance, certification audit, instructor summary</a:t>
            </a:r>
            <a:endParaRPr lang="en-US" sz="1300" dirty="0"/>
          </a:p>
          <a:p>
            <a:pPr marL="342900" indent="-342900">
              <a:spcAft>
                <a:spcPts val="800"/>
              </a:spcAft>
              <a:buSzPct val="100000"/>
              <a:buChar char="•"/>
            </a:pPr>
            <a:r>
              <a:rPr lang="en-US" sz="1300" dirty="0">
                <a:solidFill>
                  <a:schemeClr val="tx1"/>
                </a:solidFill>
              </a:rPr>
              <a:t>Each tab reads a SQL view</a:t>
            </a:r>
            <a:endParaRPr lang="en-US" sz="1300" dirty="0"/>
          </a:p>
          <a:p>
            <a:pPr marL="342900" indent="-342900">
              <a:spcAft>
                <a:spcPts val="800"/>
              </a:spcAft>
              <a:buSzPct val="100000"/>
              <a:buChar char="•"/>
            </a:pPr>
            <a:r>
              <a:rPr lang="en-US" sz="1300" dirty="0">
                <a:solidFill>
                  <a:schemeClr val="tx1"/>
                </a:solidFill>
              </a:rPr>
              <a:t>Export current view to CSV</a:t>
            </a:r>
            <a:endParaRPr lang="en-US" sz="1300" dirty="0"/>
          </a:p>
        </p:txBody>
      </p:sp>
      <p:sp>
        <p:nvSpPr>
          <p:cNvPr id="25" name="Slide Number Placeholder 0"/>
          <p:cNvSpPr>
            <a:spLocks noGrp="1"/>
          </p:cNvSpPr>
          <p:nvPr>
            <p:ph type="sldNum" sz="quarter" idx="4294967295"/>
          </p:nvPr>
        </p:nvSpPr>
        <p:spPr>
          <a:xfrm>
            <a:off x="4572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680960" cy="685800"/>
          </a:xfrm>
          <a:prstGeom prst="rect">
            <a:avLst/>
          </a:prstGeom>
          <a:noFill/>
          <a:ln/>
        </p:spPr>
        <p:txBody>
          <a:bodyPr wrap="square" lIns="0" tIns="0" rIns="0" bIns="0" rtlCol="0" anchor="ctr"/>
          <a:lstStyle/>
          <a:p>
            <a:pPr algn="l" indent="0" marL="0">
              <a:buNone/>
            </a:pPr>
            <a:r>
              <a:rPr lang="en-US" sz="3000" dirty="0">
                <a:solidFill>
                  <a:schemeClr val="tx1"/>
                </a:solidFill>
              </a:rPr>
              <a:t>SQL console</a:t>
            </a:r>
            <a:endParaRPr lang="en-US" sz="3000" dirty="0"/>
          </a:p>
        </p:txBody>
      </p:sp>
      <p:sp>
        <p:nvSpPr>
          <p:cNvPr id="3" name="motif circle 1"/>
          <p:cNvSpPr/>
          <p:nvPr/>
        </p:nvSpPr>
        <p:spPr>
          <a:xfrm>
            <a:off x="7726680" y="4617720"/>
            <a:ext cx="365760" cy="365760"/>
          </a:xfrm>
          <a:prstGeom prst="ellipse">
            <a:avLst/>
          </a:prstGeom>
          <a:solidFill>
            <a:schemeClr val="accent1">
              <a:alpha val="0"/>
            </a:schemeClr>
          </a:solidFill>
          <a:ln w="12700">
            <a:solidFill>
              <a:schemeClr val="accent1"/>
            </a:solidFill>
            <a:prstDash val="solid"/>
          </a:ln>
        </p:spPr>
      </p:sp>
      <p:sp>
        <p:nvSpPr>
          <p:cNvPr id="4" name="motif circle 2"/>
          <p:cNvSpPr/>
          <p:nvPr/>
        </p:nvSpPr>
        <p:spPr>
          <a:xfrm>
            <a:off x="8037576" y="4617720"/>
            <a:ext cx="365760" cy="365760"/>
          </a:xfrm>
          <a:prstGeom prst="ellipse">
            <a:avLst/>
          </a:prstGeom>
          <a:solidFill>
            <a:schemeClr val="accent1">
              <a:alpha val="0"/>
            </a:schemeClr>
          </a:solidFill>
          <a:ln w="12700">
            <a:solidFill>
              <a:schemeClr val="accent1"/>
            </a:solidFill>
            <a:prstDash val="solid"/>
          </a:ln>
        </p:spPr>
      </p:sp>
      <p:sp>
        <p:nvSpPr>
          <p:cNvPr id="5" name="motif circle 3"/>
          <p:cNvSpPr/>
          <p:nvPr/>
        </p:nvSpPr>
        <p:spPr>
          <a:xfrm>
            <a:off x="8348472" y="4617720"/>
            <a:ext cx="365760" cy="365760"/>
          </a:xfrm>
          <a:prstGeom prst="ellipse">
            <a:avLst/>
          </a:prstGeom>
          <a:solidFill>
            <a:schemeClr val="accent1">
              <a:alpha val="0"/>
            </a:schemeClr>
          </a:solidFill>
          <a:ln w="12700">
            <a:solidFill>
              <a:schemeClr val="accent1"/>
            </a:solidFill>
            <a:prstDash val="solid"/>
          </a:ln>
        </p:spPr>
      </p:sp>
      <p:pic>
        <p:nvPicPr>
          <p:cNvPr id="7" name="SQL console" descr="SQL console">    </p:cNvPr>
          <p:cNvPicPr>
            <a:picLocks noChangeAspect="1"/>
          </p:cNvPicPr>
          <p:nvPr/>
        </p:nvPicPr>
        <p:blipFill>
          <a:blip r:embed="rId1"/>
          <a:stretch>
            <a:fillRect/>
          </a:stretch>
        </p:blipFill>
        <p:spPr>
          <a:xfrm>
            <a:off x="457200" y="1097280"/>
            <a:ext cx="7498080" cy="2607665"/>
          </a:xfrm>
          <a:prstGeom prst="rect">
            <a:avLst/>
          </a:prstGeom>
          <a:effectLst>
            <a:outerShdw sx="100000" sy="100000" kx="0" ky="0" algn="bl" rotWithShape="0" blurRad="101600" dist="38100" dir="5400000">
              <a:srgbClr val="000000">
                <a:alpha val="25000"/>
              </a:srgbClr>
            </a:outerShdw>
          </a:effectLst>
        </p:spPr>
      </p:pic>
      <p:sp>
        <p:nvSpPr>
          <p:cNvPr id="8" name="Text 4"/>
          <p:cNvSpPr txBox="1"/>
          <p:nvPr/>
        </p:nvSpPr>
        <p:spPr>
          <a:xfrm>
            <a:off x="457200" y="3887825"/>
            <a:ext cx="3566160" cy="548640"/>
          </a:xfrm>
          <a:prstGeom prst="rect">
            <a:avLst/>
          </a:prstGeom>
          <a:noFill/>
          <a:ln/>
        </p:spPr>
        <p:txBody>
          <a:bodyPr wrap="square" lIns="0" tIns="0" rIns="0" bIns="0" rtlCol="0" anchor="t"/>
          <a:lstStyle/>
          <a:p>
            <a:pPr indent="0" marL="0">
              <a:buNone/>
            </a:pPr>
            <a:r>
              <a:rPr lang="en-US" sz="1300" dirty="0">
                <a:solidFill>
                  <a:schemeClr val="tx1"/>
                </a:solidFill>
              </a:rPr>
              <a:t>Read-only: only SELECT runs. DROP, ALTER, UPDATE and DELETE are rejected.</a:t>
            </a:r>
            <a:endParaRPr lang="en-US" sz="1300" dirty="0"/>
          </a:p>
        </p:txBody>
      </p:sp>
      <p:sp>
        <p:nvSpPr>
          <p:cNvPr id="9" name="Text 5"/>
          <p:cNvSpPr txBox="1"/>
          <p:nvPr/>
        </p:nvSpPr>
        <p:spPr>
          <a:xfrm>
            <a:off x="4297680" y="3887825"/>
            <a:ext cx="3566160" cy="548640"/>
          </a:xfrm>
          <a:prstGeom prst="rect">
            <a:avLst/>
          </a:prstGeom>
          <a:noFill/>
          <a:ln/>
        </p:spPr>
        <p:txBody>
          <a:bodyPr wrap="square" lIns="0" tIns="0" rIns="0" bIns="0" rtlCol="0" anchor="t"/>
          <a:lstStyle/>
          <a:p>
            <a:pPr indent="0" marL="0">
              <a:buNone/>
            </a:pPr>
            <a:r>
              <a:rPr lang="en-US" sz="1300" dirty="0">
                <a:solidFill>
                  <a:schemeClr val="tx1"/>
                </a:solidFill>
              </a:rPr>
              <a:t>Ready-made snippets: course completion, quiz pass rates, dropouts, faculty performance, enrolment breakdown.</a:t>
            </a:r>
            <a:endParaRPr lang="en-US" sz="1300" dirty="0"/>
          </a:p>
        </p:txBody>
      </p:sp>
      <p:sp>
        <p:nvSpPr>
          <p:cNvPr id="25" name="Slide Number Placeholder 0"/>
          <p:cNvSpPr>
            <a:spLocks noGrp="1"/>
          </p:cNvSpPr>
          <p:nvPr>
            <p:ph type="sldNum" sz="quarter" idx="4294967295"/>
          </p:nvPr>
        </p:nvSpPr>
        <p:spPr>
          <a:xfrm>
            <a:off x="4572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680960" cy="685800"/>
          </a:xfrm>
          <a:prstGeom prst="rect">
            <a:avLst/>
          </a:prstGeom>
          <a:noFill/>
          <a:ln/>
        </p:spPr>
        <p:txBody>
          <a:bodyPr wrap="square" lIns="0" tIns="0" rIns="0" bIns="0" rtlCol="0" anchor="ctr"/>
          <a:lstStyle/>
          <a:p>
            <a:pPr algn="l" indent="0" marL="0">
              <a:buNone/>
            </a:pPr>
            <a:r>
              <a:rPr lang="en-US" sz="3000" dirty="0">
                <a:solidFill>
                  <a:schemeClr val="tx1"/>
                </a:solidFill>
              </a:rPr>
              <a:t>Certificates</a:t>
            </a:r>
            <a:endParaRPr lang="en-US" sz="3000" dirty="0"/>
          </a:p>
        </p:txBody>
      </p:sp>
      <p:sp>
        <p:nvSpPr>
          <p:cNvPr id="3" name="motif circle 1"/>
          <p:cNvSpPr/>
          <p:nvPr/>
        </p:nvSpPr>
        <p:spPr>
          <a:xfrm>
            <a:off x="7726680" y="4617720"/>
            <a:ext cx="365760" cy="365760"/>
          </a:xfrm>
          <a:prstGeom prst="ellipse">
            <a:avLst/>
          </a:prstGeom>
          <a:solidFill>
            <a:schemeClr val="accent1">
              <a:alpha val="0"/>
            </a:schemeClr>
          </a:solidFill>
          <a:ln w="12700">
            <a:solidFill>
              <a:schemeClr val="accent1"/>
            </a:solidFill>
            <a:prstDash val="solid"/>
          </a:ln>
        </p:spPr>
      </p:sp>
      <p:sp>
        <p:nvSpPr>
          <p:cNvPr id="4" name="motif circle 2"/>
          <p:cNvSpPr/>
          <p:nvPr/>
        </p:nvSpPr>
        <p:spPr>
          <a:xfrm>
            <a:off x="8037576" y="4617720"/>
            <a:ext cx="365760" cy="365760"/>
          </a:xfrm>
          <a:prstGeom prst="ellipse">
            <a:avLst/>
          </a:prstGeom>
          <a:solidFill>
            <a:schemeClr val="accent1">
              <a:alpha val="0"/>
            </a:schemeClr>
          </a:solidFill>
          <a:ln w="12700">
            <a:solidFill>
              <a:schemeClr val="accent1"/>
            </a:solidFill>
            <a:prstDash val="solid"/>
          </a:ln>
        </p:spPr>
      </p:sp>
      <p:sp>
        <p:nvSpPr>
          <p:cNvPr id="5" name="motif circle 3"/>
          <p:cNvSpPr/>
          <p:nvPr/>
        </p:nvSpPr>
        <p:spPr>
          <a:xfrm>
            <a:off x="8348472" y="4617720"/>
            <a:ext cx="365760" cy="365760"/>
          </a:xfrm>
          <a:prstGeom prst="ellipse">
            <a:avLst/>
          </a:prstGeom>
          <a:solidFill>
            <a:schemeClr val="accent1">
              <a:alpha val="0"/>
            </a:schemeClr>
          </a:solidFill>
          <a:ln w="12700">
            <a:solidFill>
              <a:schemeClr val="accent1"/>
            </a:solidFill>
            <a:prstDash val="solid"/>
          </a:ln>
        </p:spPr>
      </p:sp>
      <p:pic>
        <p:nvPicPr>
          <p:cNvPr id="7" name="Certificate registry" descr="Certificate registry">    </p:cNvPr>
          <p:cNvPicPr>
            <a:picLocks noChangeAspect="1"/>
          </p:cNvPicPr>
          <p:nvPr/>
        </p:nvPicPr>
        <p:blipFill>
          <a:blip r:embed="rId1"/>
          <a:stretch>
            <a:fillRect/>
          </a:stretch>
        </p:blipFill>
        <p:spPr>
          <a:xfrm>
            <a:off x="457200" y="1097280"/>
            <a:ext cx="4206240" cy="2619568"/>
          </a:xfrm>
          <a:prstGeom prst="rect">
            <a:avLst/>
          </a:prstGeom>
          <a:effectLst>
            <a:outerShdw sx="100000" sy="100000" kx="0" ky="0" algn="bl" rotWithShape="0" blurRad="101600" dist="38100" dir="5400000">
              <a:srgbClr val="000000">
                <a:alpha val="25000"/>
              </a:srgbClr>
            </a:outerShdw>
          </a:effectLst>
        </p:spPr>
      </p:pic>
      <p:pic>
        <p:nvPicPr>
          <p:cNvPr id="8" name="Printable certificate" descr="Printable certificate">    </p:cNvPr>
          <p:cNvPicPr>
            <a:picLocks noChangeAspect="1"/>
          </p:cNvPicPr>
          <p:nvPr/>
        </p:nvPicPr>
        <p:blipFill>
          <a:blip r:embed="rId2"/>
          <a:stretch>
            <a:fillRect/>
          </a:stretch>
        </p:blipFill>
        <p:spPr>
          <a:xfrm>
            <a:off x="4937760" y="1097280"/>
            <a:ext cx="3133003" cy="2619568"/>
          </a:xfrm>
          <a:prstGeom prst="rect">
            <a:avLst/>
          </a:prstGeom>
          <a:effectLst>
            <a:outerShdw sx="100000" sy="100000" kx="0" ky="0" algn="bl" rotWithShape="0" blurRad="101600" dist="38100" dir="5400000">
              <a:srgbClr val="000000">
                <a:alpha val="25000"/>
              </a:srgbClr>
            </a:outerShdw>
          </a:effectLst>
        </p:spPr>
      </p:pic>
      <p:sp>
        <p:nvSpPr>
          <p:cNvPr id="9" name="Text 4"/>
          <p:cNvSpPr txBox="1"/>
          <p:nvPr/>
        </p:nvSpPr>
        <p:spPr>
          <a:xfrm>
            <a:off x="457200" y="3899728"/>
            <a:ext cx="4206240" cy="411480"/>
          </a:xfrm>
          <a:prstGeom prst="rect">
            <a:avLst/>
          </a:prstGeom>
          <a:noFill/>
          <a:ln/>
        </p:spPr>
        <p:txBody>
          <a:bodyPr wrap="square" lIns="0" tIns="0" rIns="0" bIns="0" rtlCol="0" anchor="t"/>
          <a:lstStyle/>
          <a:p>
            <a:pPr indent="0" marL="0">
              <a:buNone/>
            </a:pPr>
            <a:r>
              <a:rPr lang="en-US" sz="1200" dirty="0">
                <a:solidFill>
                  <a:schemeClr val="tx2"/>
                </a:solidFill>
              </a:rPr>
              <a:t>Registry with search and a print button for every certificate.</a:t>
            </a:r>
            <a:endParaRPr lang="en-US" sz="1200" dirty="0"/>
          </a:p>
        </p:txBody>
      </p:sp>
      <p:sp>
        <p:nvSpPr>
          <p:cNvPr id="10" name="Text 5"/>
          <p:cNvSpPr txBox="1"/>
          <p:nvPr/>
        </p:nvSpPr>
        <p:spPr>
          <a:xfrm>
            <a:off x="4937760" y="3899728"/>
            <a:ext cx="3108960" cy="731520"/>
          </a:xfrm>
          <a:prstGeom prst="rect">
            <a:avLst/>
          </a:prstGeom>
          <a:noFill/>
          <a:ln/>
        </p:spPr>
        <p:txBody>
          <a:bodyPr wrap="square" lIns="0" tIns="0" rIns="0" bIns="0" rtlCol="0" anchor="t"/>
          <a:lstStyle/>
          <a:p>
            <a:pPr indent="0" marL="0">
              <a:buNone/>
            </a:pPr>
            <a:r>
              <a:rPr lang="en-US" sz="1200" dirty="0">
                <a:solidFill>
                  <a:schemeClr val="tx2"/>
                </a:solidFill>
              </a:rPr>
              <a:t>Printable certificate with a unique verification code. Only learners who finished all lessons and passed the quizzes are eligible.</a:t>
            </a:r>
            <a:endParaRPr lang="en-US" sz="1200" dirty="0"/>
          </a:p>
        </p:txBody>
      </p:sp>
      <p:sp>
        <p:nvSpPr>
          <p:cNvPr id="25" name="Slide Number Placeholder 0"/>
          <p:cNvSpPr>
            <a:spLocks noGrp="1"/>
          </p:cNvSpPr>
          <p:nvPr>
            <p:ph type="sldNum" sz="quarter" idx="4294967295"/>
          </p:nvPr>
        </p:nvSpPr>
        <p:spPr>
          <a:xfrm>
            <a:off x="4572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680960" cy="685800"/>
          </a:xfrm>
          <a:prstGeom prst="rect">
            <a:avLst/>
          </a:prstGeom>
          <a:noFill/>
          <a:ln/>
        </p:spPr>
        <p:txBody>
          <a:bodyPr wrap="square" lIns="0" tIns="0" rIns="0" bIns="0" rtlCol="0" anchor="ctr"/>
          <a:lstStyle/>
          <a:p>
            <a:pPr algn="l" indent="0" marL="0">
              <a:buNone/>
            </a:pPr>
            <a:r>
              <a:rPr lang="en-US" sz="3000" dirty="0">
                <a:solidFill>
                  <a:schemeClr val="tx1"/>
                </a:solidFill>
              </a:rPr>
              <a:t>Business rules in action</a:t>
            </a:r>
            <a:endParaRPr lang="en-US" sz="3000" dirty="0"/>
          </a:p>
        </p:txBody>
      </p:sp>
      <p:sp>
        <p:nvSpPr>
          <p:cNvPr id="3" name="motif circle 1"/>
          <p:cNvSpPr/>
          <p:nvPr/>
        </p:nvSpPr>
        <p:spPr>
          <a:xfrm>
            <a:off x="7726680" y="4617720"/>
            <a:ext cx="365760" cy="365760"/>
          </a:xfrm>
          <a:prstGeom prst="ellipse">
            <a:avLst/>
          </a:prstGeom>
          <a:solidFill>
            <a:schemeClr val="accent1">
              <a:alpha val="0"/>
            </a:schemeClr>
          </a:solidFill>
          <a:ln w="12700">
            <a:solidFill>
              <a:schemeClr val="accent1"/>
            </a:solidFill>
            <a:prstDash val="solid"/>
          </a:ln>
        </p:spPr>
      </p:sp>
      <p:sp>
        <p:nvSpPr>
          <p:cNvPr id="4" name="motif circle 2"/>
          <p:cNvSpPr/>
          <p:nvPr/>
        </p:nvSpPr>
        <p:spPr>
          <a:xfrm>
            <a:off x="8037576" y="4617720"/>
            <a:ext cx="365760" cy="365760"/>
          </a:xfrm>
          <a:prstGeom prst="ellipse">
            <a:avLst/>
          </a:prstGeom>
          <a:solidFill>
            <a:schemeClr val="accent1">
              <a:alpha val="0"/>
            </a:schemeClr>
          </a:solidFill>
          <a:ln w="12700">
            <a:solidFill>
              <a:schemeClr val="accent1"/>
            </a:solidFill>
            <a:prstDash val="solid"/>
          </a:ln>
        </p:spPr>
      </p:sp>
      <p:sp>
        <p:nvSpPr>
          <p:cNvPr id="5" name="motif circle 3"/>
          <p:cNvSpPr/>
          <p:nvPr/>
        </p:nvSpPr>
        <p:spPr>
          <a:xfrm>
            <a:off x="8348472" y="4617720"/>
            <a:ext cx="365760" cy="365760"/>
          </a:xfrm>
          <a:prstGeom prst="ellipse">
            <a:avLst/>
          </a:prstGeom>
          <a:solidFill>
            <a:schemeClr val="accent1">
              <a:alpha val="0"/>
            </a:schemeClr>
          </a:solidFill>
          <a:ln w="12700">
            <a:solidFill>
              <a:schemeClr val="accent1"/>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2468880"/>
                <a:gridCol w="2468880"/>
                <a:gridCol w="3291840"/>
              </a:tblGrid>
              <a:tr h="457200">
                <a:tc>
                  <a:txBody>
                    <a:bodyPr/>
                    <a:lstStyle/>
                    <a:p>
                      <a:pPr indent="0" marL="0">
                        <a:buNone/>
                      </a:pPr>
                      <a:r>
                        <a:rPr lang="en-US" sz="1200" b="1" dirty="0">
                          <a:solidFill>
                            <a:schemeClr val="bg1"/>
                          </a:solidFill>
                        </a:rPr>
                        <a:t>Rule</a:t>
                      </a:r>
                      <a:endParaRPr lang="en-US" sz="1200" dirty="0"/>
                    </a:p>
                  </a:txBody>
                  <a:tcPr marL="91440" marR="91440" marT="36576" marB="36576"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accent6"/>
                    </a:solidFill>
                  </a:tcPr>
                </a:tc>
                <a:tc>
                  <a:txBody>
                    <a:bodyPr/>
                    <a:lstStyle/>
                    <a:p>
                      <a:pPr indent="0" marL="0">
                        <a:buNone/>
                      </a:pPr>
                      <a:r>
                        <a:rPr lang="en-US" sz="1200" b="1" dirty="0">
                          <a:solidFill>
                            <a:schemeClr val="bg1"/>
                          </a:solidFill>
                        </a:rPr>
                        <a:t>Enforced by</a:t>
                      </a:r>
                      <a:endParaRPr lang="en-US" sz="1200" dirty="0"/>
                    </a:p>
                  </a:txBody>
                  <a:tcPr marL="91440" marR="91440" marT="36576" marB="36576"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accent6"/>
                    </a:solidFill>
                  </a:tcPr>
                </a:tc>
                <a:tc>
                  <a:txBody>
                    <a:bodyPr/>
                    <a:lstStyle/>
                    <a:p>
                      <a:pPr indent="0" marL="0">
                        <a:buNone/>
                      </a:pPr>
                      <a:r>
                        <a:rPr lang="en-US" sz="1200" b="1" dirty="0">
                          <a:solidFill>
                            <a:schemeClr val="bg1"/>
                          </a:solidFill>
                        </a:rPr>
                        <a:t>Where you can see it</a:t>
                      </a:r>
                      <a:endParaRPr lang="en-US" sz="1200" dirty="0"/>
                    </a:p>
                  </a:txBody>
                  <a:tcPr marL="91440" marR="91440" marT="36576" marB="36576"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accent6"/>
                    </a:solidFill>
                  </a:tcPr>
                </a:tc>
              </a:tr>
              <a:tr h="457200">
                <a:tc>
                  <a:txBody>
                    <a:bodyPr/>
                    <a:lstStyle/>
                    <a:p>
                      <a:pPr indent="0" marL="0">
                        <a:buNone/>
                      </a:pPr>
                      <a:r>
                        <a:rPr lang="en-US" sz="1150" dirty="0">
                          <a:solidFill>
                            <a:schemeClr val="tx1"/>
                          </a:solidFill>
                        </a:rPr>
                        <a:t>One enrolment per course</a:t>
                      </a:r>
                      <a:endParaRPr lang="en-US" sz="1150" dirty="0"/>
                    </a:p>
                  </a:txBody>
                  <a:tcPr marL="91440" marR="91440" marT="36576" marB="36576"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UNIQUE (learner, course)</a:t>
                      </a:r>
                      <a:endParaRPr lang="en-US" sz="1150" dirty="0"/>
                    </a:p>
                  </a:txBody>
                  <a:tcPr marL="91440" marR="91440" marT="36576" marB="36576"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Catalog shows Enrolled</a:t>
                      </a:r>
                      <a:endParaRPr lang="en-US" sz="1150" dirty="0"/>
                    </a:p>
                  </a:txBody>
                  <a:tcPr marL="91440" marR="91440" marT="36576" marB="36576"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r>
              <a:tr h="457200">
                <a:tc>
                  <a:txBody>
                    <a:bodyPr/>
                    <a:lstStyle/>
                    <a:p>
                      <a:pPr indent="0" marL="0">
                        <a:buNone/>
                      </a:pPr>
                      <a:r>
                        <a:rPr lang="en-US" sz="1150" dirty="0">
                          <a:solidFill>
                            <a:schemeClr val="tx1"/>
                          </a:solidFill>
                        </a:rPr>
                        <a:t>Progress from 0 to 100</a:t>
                      </a:r>
                      <a:endParaRPr lang="en-US" sz="1150" dirty="0"/>
                    </a:p>
                  </a:txBody>
                  <a:tcPr marL="91440" marR="91440" marT="36576" marB="36576"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CHECK constraint</a:t>
                      </a:r>
                      <a:endParaRPr lang="en-US" sz="1150" dirty="0"/>
                    </a:p>
                  </a:txBody>
                  <a:tcPr marL="91440" marR="91440" marT="36576" marB="36576"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Progress bars and lesson progress table</a:t>
                      </a:r>
                      <a:endParaRPr lang="en-US" sz="1150" dirty="0"/>
                    </a:p>
                  </a:txBody>
                  <a:tcPr marL="91440" marR="91440" marT="36576" marB="36576"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r>
              <a:tr h="457200">
                <a:tc>
                  <a:txBody>
                    <a:bodyPr/>
                    <a:lstStyle/>
                    <a:p>
                      <a:pPr indent="0" marL="0">
                        <a:buNone/>
                      </a:pPr>
                      <a:r>
                        <a:rPr lang="en-US" sz="1150" dirty="0">
                          <a:solidFill>
                            <a:schemeClr val="tx1"/>
                          </a:solidFill>
                        </a:rPr>
                        <a:t>Attempt limit</a:t>
                      </a:r>
                      <a:endParaRPr lang="en-US" sz="1150" dirty="0"/>
                    </a:p>
                  </a:txBody>
                  <a:tcPr marL="91440" marR="91440" marT="36576" marB="36576"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Trigger against max tries</a:t>
                      </a:r>
                      <a:endParaRPr lang="en-US" sz="1150" dirty="0"/>
                    </a:p>
                  </a:txBody>
                  <a:tcPr marL="91440" marR="91440" marT="36576" marB="36576"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Max: 3 tries on every quiz</a:t>
                      </a:r>
                      <a:endParaRPr lang="en-US" sz="1150" dirty="0"/>
                    </a:p>
                  </a:txBody>
                  <a:tcPr marL="91440" marR="91440" marT="36576" marB="36576"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r>
              <a:tr h="457200">
                <a:tc>
                  <a:txBody>
                    <a:bodyPr/>
                    <a:lstStyle/>
                    <a:p>
                      <a:pPr indent="0" marL="0">
                        <a:buNone/>
                      </a:pPr>
                      <a:r>
                        <a:rPr lang="en-US" sz="1150" dirty="0">
                          <a:solidFill>
                            <a:schemeClr val="tx1"/>
                          </a:solidFill>
                        </a:rPr>
                        <a:t>Valid scores</a:t>
                      </a:r>
                      <a:endParaRPr lang="en-US" sz="1150" dirty="0"/>
                    </a:p>
                  </a:txBody>
                  <a:tcPr marL="91440" marR="91440" marT="36576" marB="36576"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CHECK on score and marks</a:t>
                      </a:r>
                      <a:endParaRPr lang="en-US" sz="1150" dirty="0"/>
                    </a:p>
                  </a:txBody>
                  <a:tcPr marL="91440" marR="91440" marT="36576" marB="36576"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20 marks per question in the builder</a:t>
                      </a:r>
                      <a:endParaRPr lang="en-US" sz="1150" dirty="0"/>
                    </a:p>
                  </a:txBody>
                  <a:tcPr marL="91440" marR="91440" marT="36576" marB="36576"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r>
              <a:tr h="457200">
                <a:tc>
                  <a:txBody>
                    <a:bodyPr/>
                    <a:lstStyle/>
                    <a:p>
                      <a:pPr indent="0" marL="0">
                        <a:buNone/>
                      </a:pPr>
                      <a:r>
                        <a:rPr lang="en-US" sz="1150" dirty="0">
                          <a:solidFill>
                            <a:schemeClr val="tx1"/>
                          </a:solidFill>
                        </a:rPr>
                        <a:t>Certificate only when complete</a:t>
                      </a:r>
                      <a:endParaRPr lang="en-US" sz="1150" dirty="0"/>
                    </a:p>
                  </a:txBody>
                  <a:tcPr marL="91440" marR="91440" marT="36576" marB="36576"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Database trigger</a:t>
                      </a:r>
                      <a:endParaRPr lang="en-US" sz="1150" dirty="0"/>
                    </a:p>
                  </a:txBody>
                  <a:tcPr marL="91440" marR="91440" marT="36576" marB="36576"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Pending eligibility queue</a:t>
                      </a:r>
                      <a:endParaRPr lang="en-US" sz="1150" dirty="0"/>
                    </a:p>
                  </a:txBody>
                  <a:tcPr marL="91440" marR="91440" marT="36576" marB="36576"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r>
              <a:tr h="457200">
                <a:tc>
                  <a:txBody>
                    <a:bodyPr/>
                    <a:lstStyle/>
                    <a:p>
                      <a:pPr indent="0" marL="0">
                        <a:buNone/>
                      </a:pPr>
                      <a:r>
                        <a:rPr lang="en-US" sz="1150" dirty="0">
                          <a:solidFill>
                            <a:schemeClr val="tx1"/>
                          </a:solidFill>
                        </a:rPr>
                        <a:t>Safe SQL console</a:t>
                      </a:r>
                      <a:endParaRPr lang="en-US" sz="1150" dirty="0"/>
                    </a:p>
                  </a:txBody>
                  <a:tcPr marL="91440" marR="91440" marT="36576" marB="36576"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SELECT-only filter</a:t>
                      </a:r>
                      <a:endParaRPr lang="en-US" sz="1150" dirty="0"/>
                    </a:p>
                  </a:txBody>
                  <a:tcPr marL="91440" marR="91440" marT="36576" marB="36576"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DROP, ALTER, UPDATE, DELETE rejected</a:t>
                      </a:r>
                      <a:endParaRPr lang="en-US" sz="1150" dirty="0"/>
                    </a:p>
                  </a:txBody>
                  <a:tcPr marL="91440" marR="91440" marT="36576" marB="36576"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4572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680960" cy="685800"/>
          </a:xfrm>
          <a:prstGeom prst="rect">
            <a:avLst/>
          </a:prstGeom>
          <a:noFill/>
          <a:ln/>
        </p:spPr>
        <p:txBody>
          <a:bodyPr wrap="square" lIns="0" tIns="0" rIns="0" bIns="0" rtlCol="0" anchor="ctr"/>
          <a:lstStyle/>
          <a:p>
            <a:pPr algn="l" indent="0" marL="0">
              <a:buNone/>
            </a:pPr>
            <a:r>
              <a:rPr lang="en-US" sz="3000" dirty="0">
                <a:solidFill>
                  <a:schemeClr val="tx1"/>
                </a:solidFill>
              </a:rPr>
              <a:t>Test cases</a:t>
            </a:r>
            <a:endParaRPr lang="en-US" sz="3000" dirty="0"/>
          </a:p>
        </p:txBody>
      </p:sp>
      <p:sp>
        <p:nvSpPr>
          <p:cNvPr id="3" name="motif circle 1"/>
          <p:cNvSpPr/>
          <p:nvPr/>
        </p:nvSpPr>
        <p:spPr>
          <a:xfrm>
            <a:off x="7726680" y="4617720"/>
            <a:ext cx="365760" cy="365760"/>
          </a:xfrm>
          <a:prstGeom prst="ellipse">
            <a:avLst/>
          </a:prstGeom>
          <a:solidFill>
            <a:schemeClr val="accent1">
              <a:alpha val="0"/>
            </a:schemeClr>
          </a:solidFill>
          <a:ln w="12700">
            <a:solidFill>
              <a:schemeClr val="accent1"/>
            </a:solidFill>
            <a:prstDash val="solid"/>
          </a:ln>
        </p:spPr>
      </p:sp>
      <p:sp>
        <p:nvSpPr>
          <p:cNvPr id="4" name="motif circle 2"/>
          <p:cNvSpPr/>
          <p:nvPr/>
        </p:nvSpPr>
        <p:spPr>
          <a:xfrm>
            <a:off x="8037576" y="4617720"/>
            <a:ext cx="365760" cy="365760"/>
          </a:xfrm>
          <a:prstGeom prst="ellipse">
            <a:avLst/>
          </a:prstGeom>
          <a:solidFill>
            <a:schemeClr val="accent1">
              <a:alpha val="0"/>
            </a:schemeClr>
          </a:solidFill>
          <a:ln w="12700">
            <a:solidFill>
              <a:schemeClr val="accent1"/>
            </a:solidFill>
            <a:prstDash val="solid"/>
          </a:ln>
        </p:spPr>
      </p:sp>
      <p:sp>
        <p:nvSpPr>
          <p:cNvPr id="5" name="motif circle 3"/>
          <p:cNvSpPr/>
          <p:nvPr/>
        </p:nvSpPr>
        <p:spPr>
          <a:xfrm>
            <a:off x="8348472" y="4617720"/>
            <a:ext cx="365760" cy="365760"/>
          </a:xfrm>
          <a:prstGeom prst="ellipse">
            <a:avLst/>
          </a:prstGeom>
          <a:solidFill>
            <a:schemeClr val="accent1">
              <a:alpha val="0"/>
            </a:schemeClr>
          </a:solidFill>
          <a:ln w="12700">
            <a:solidFill>
              <a:schemeClr val="accent1"/>
            </a:solidFill>
            <a:prstDash val="solid"/>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548640"/>
                <a:gridCol w="2011680"/>
                <a:gridCol w="3200400"/>
                <a:gridCol w="2468880"/>
              </a:tblGrid>
              <a:tr h="393192">
                <a:tc>
                  <a:txBody>
                    <a:bodyPr/>
                    <a:lstStyle/>
                    <a:p>
                      <a:pPr indent="0" marL="0">
                        <a:buNone/>
                      </a:pPr>
                      <a:r>
                        <a:rPr lang="en-US" sz="1200" b="1" dirty="0">
                          <a:solidFill>
                            <a:schemeClr val="bg1"/>
                          </a:solidFill>
                        </a:rPr>
                        <a:t>ID</a:t>
                      </a:r>
                      <a:endParaRPr lang="en-US" sz="1200" dirty="0"/>
                    </a:p>
                  </a:txBody>
                  <a:tcPr marL="73152" marR="73152" marT="27432" marB="27432"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accent6"/>
                    </a:solidFill>
                  </a:tcPr>
                </a:tc>
                <a:tc>
                  <a:txBody>
                    <a:bodyPr/>
                    <a:lstStyle/>
                    <a:p>
                      <a:pPr indent="0" marL="0">
                        <a:buNone/>
                      </a:pPr>
                      <a:r>
                        <a:rPr lang="en-US" sz="1200" b="1" dirty="0">
                          <a:solidFill>
                            <a:schemeClr val="bg1"/>
                          </a:solidFill>
                        </a:rPr>
                        <a:t>Test</a:t>
                      </a:r>
                      <a:endParaRPr lang="en-US" sz="1200" dirty="0"/>
                    </a:p>
                  </a:txBody>
                  <a:tcPr marL="73152" marR="73152" marT="27432" marB="27432"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accent6"/>
                    </a:solidFill>
                  </a:tcPr>
                </a:tc>
                <a:tc>
                  <a:txBody>
                    <a:bodyPr/>
                    <a:lstStyle/>
                    <a:p>
                      <a:pPr indent="0" marL="0">
                        <a:buNone/>
                      </a:pPr>
                      <a:r>
                        <a:rPr lang="en-US" sz="1200" b="1" dirty="0">
                          <a:solidFill>
                            <a:schemeClr val="bg1"/>
                          </a:solidFill>
                        </a:rPr>
                        <a:t>Input</a:t>
                      </a:r>
                      <a:endParaRPr lang="en-US" sz="1200" dirty="0"/>
                    </a:p>
                  </a:txBody>
                  <a:tcPr marL="73152" marR="73152" marT="27432" marB="27432"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accent6"/>
                    </a:solidFill>
                  </a:tcPr>
                </a:tc>
                <a:tc>
                  <a:txBody>
                    <a:bodyPr/>
                    <a:lstStyle/>
                    <a:p>
                      <a:pPr indent="0" marL="0">
                        <a:buNone/>
                      </a:pPr>
                      <a:r>
                        <a:rPr lang="en-US" sz="1200" b="1" dirty="0">
                          <a:solidFill>
                            <a:schemeClr val="bg1"/>
                          </a:solidFill>
                        </a:rPr>
                        <a:t>Expected result</a:t>
                      </a:r>
                      <a:endParaRPr lang="en-US" sz="1200" dirty="0"/>
                    </a:p>
                  </a:txBody>
                  <a:tcPr marL="73152" marR="73152" marT="27432" marB="27432"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accent6"/>
                    </a:solidFill>
                  </a:tcPr>
                </a:tc>
              </a:tr>
              <a:tr h="393192">
                <a:tc>
                  <a:txBody>
                    <a:bodyPr/>
                    <a:lstStyle/>
                    <a:p>
                      <a:pPr indent="0" marL="0">
                        <a:buNone/>
                      </a:pPr>
                      <a:r>
                        <a:rPr lang="en-US" sz="1100" dirty="0">
                          <a:solidFill>
                            <a:schemeClr val="tx1"/>
                          </a:solidFill>
                        </a:rPr>
                        <a:t>T1</a:t>
                      </a:r>
                      <a:endParaRPr lang="en-US" sz="1100" dirty="0"/>
                    </a:p>
                  </a:txBody>
                  <a:tcPr marL="73152" marR="73152" marT="27432" marB="27432"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Duplicate enrolment</a:t>
                      </a:r>
                      <a:endParaRPr lang="en-US" sz="1100" dirty="0"/>
                    </a:p>
                  </a:txBody>
                  <a:tcPr marL="73152" marR="73152" marT="27432" marB="27432"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Enrol the same learner in the same course</a:t>
                      </a:r>
                      <a:endParaRPr lang="en-US" sz="1100" dirty="0"/>
                    </a:p>
                  </a:txBody>
                  <a:tcPr marL="73152" marR="73152" marT="27432" marB="27432"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Rejected with a clear message</a:t>
                      </a:r>
                      <a:endParaRPr lang="en-US" sz="1100" dirty="0"/>
                    </a:p>
                  </a:txBody>
                  <a:tcPr marL="73152" marR="73152" marT="27432" marB="27432"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r>
              <a:tr h="393192">
                <a:tc>
                  <a:txBody>
                    <a:bodyPr/>
                    <a:lstStyle/>
                    <a:p>
                      <a:pPr indent="0" marL="0">
                        <a:buNone/>
                      </a:pPr>
                      <a:r>
                        <a:rPr lang="en-US" sz="1100" dirty="0">
                          <a:solidFill>
                            <a:schemeClr val="tx1"/>
                          </a:solidFill>
                        </a:rPr>
                        <a:t>T2</a:t>
                      </a:r>
                      <a:endParaRPr lang="en-US" sz="1100" dirty="0"/>
                    </a:p>
                  </a:txBody>
                  <a:tcPr marL="73152" marR="73152" marT="27432" marB="27432"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Progress out of range</a:t>
                      </a:r>
                      <a:endParaRPr lang="en-US" sz="1100" dirty="0"/>
                    </a:p>
                  </a:txBody>
                  <a:tcPr marL="73152" marR="73152" marT="27432" marB="27432"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Set lesson progress to 101</a:t>
                      </a:r>
                      <a:endParaRPr lang="en-US" sz="1100" dirty="0"/>
                    </a:p>
                  </a:txBody>
                  <a:tcPr marL="73152" marR="73152" marT="27432" marB="27432"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Rejected by the CHECK constraint</a:t>
                      </a:r>
                      <a:endParaRPr lang="en-US" sz="1100" dirty="0"/>
                    </a:p>
                  </a:txBody>
                  <a:tcPr marL="73152" marR="73152" marT="27432" marB="27432"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r>
              <a:tr h="393192">
                <a:tc>
                  <a:txBody>
                    <a:bodyPr/>
                    <a:lstStyle/>
                    <a:p>
                      <a:pPr indent="0" marL="0">
                        <a:buNone/>
                      </a:pPr>
                      <a:r>
                        <a:rPr lang="en-US" sz="1100" dirty="0">
                          <a:solidFill>
                            <a:schemeClr val="tx1"/>
                          </a:solidFill>
                        </a:rPr>
                        <a:t>T3</a:t>
                      </a:r>
                      <a:endParaRPr lang="en-US" sz="1100" dirty="0"/>
                    </a:p>
                  </a:txBody>
                  <a:tcPr marL="73152" marR="73152" marT="27432" marB="27432"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Attempt limit</a:t>
                      </a:r>
                      <a:endParaRPr lang="en-US" sz="1100" dirty="0"/>
                    </a:p>
                  </a:txBody>
                  <a:tcPr marL="73152" marR="73152" marT="27432" marB="27432"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Make a 4th attempt on a quiz with 3 tries</a:t>
                      </a:r>
                      <a:endParaRPr lang="en-US" sz="1100" dirty="0"/>
                    </a:p>
                  </a:txBody>
                  <a:tcPr marL="73152" marR="73152" marT="27432" marB="27432"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Blocked by the trigger</a:t>
                      </a:r>
                      <a:endParaRPr lang="en-US" sz="1100" dirty="0"/>
                    </a:p>
                  </a:txBody>
                  <a:tcPr marL="73152" marR="73152" marT="27432" marB="27432"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r>
              <a:tr h="393192">
                <a:tc>
                  <a:txBody>
                    <a:bodyPr/>
                    <a:lstStyle/>
                    <a:p>
                      <a:pPr indent="0" marL="0">
                        <a:buNone/>
                      </a:pPr>
                      <a:r>
                        <a:rPr lang="en-US" sz="1100" dirty="0">
                          <a:solidFill>
                            <a:schemeClr val="tx1"/>
                          </a:solidFill>
                        </a:rPr>
                        <a:t>T4</a:t>
                      </a:r>
                      <a:endParaRPr lang="en-US" sz="1100" dirty="0"/>
                    </a:p>
                  </a:txBody>
                  <a:tcPr marL="73152" marR="73152" marT="27432" marB="27432"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Early certificate</a:t>
                      </a:r>
                      <a:endParaRPr lang="en-US" sz="1100" dirty="0"/>
                    </a:p>
                  </a:txBody>
                  <a:tcPr marL="73152" marR="73152" marT="27432" marB="27432"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Issue a certificate before completion</a:t>
                      </a:r>
                      <a:endParaRPr lang="en-US" sz="1100" dirty="0"/>
                    </a:p>
                  </a:txBody>
                  <a:tcPr marL="73152" marR="73152" marT="27432" marB="27432"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Blocked by the trigger</a:t>
                      </a:r>
                      <a:endParaRPr lang="en-US" sz="1100" dirty="0"/>
                    </a:p>
                  </a:txBody>
                  <a:tcPr marL="73152" marR="73152" marT="27432" marB="27432"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r>
              <a:tr h="393192">
                <a:tc>
                  <a:txBody>
                    <a:bodyPr/>
                    <a:lstStyle/>
                    <a:p>
                      <a:pPr indent="0" marL="0">
                        <a:buNone/>
                      </a:pPr>
                      <a:r>
                        <a:rPr lang="en-US" sz="1100" dirty="0">
                          <a:solidFill>
                            <a:schemeClr val="tx1"/>
                          </a:solidFill>
                        </a:rPr>
                        <a:t>T5</a:t>
                      </a:r>
                      <a:endParaRPr lang="en-US" sz="1100" dirty="0"/>
                    </a:p>
                  </a:txBody>
                  <a:tcPr marL="73152" marR="73152" marT="27432" marB="27432"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Empty required field</a:t>
                      </a:r>
                      <a:endParaRPr lang="en-US" sz="1100" dirty="0"/>
                    </a:p>
                  </a:txBody>
                  <a:tcPr marL="73152" marR="73152" marT="27432" marB="27432"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Create a course with no title</a:t>
                      </a:r>
                      <a:endParaRPr lang="en-US" sz="1100" dirty="0"/>
                    </a:p>
                  </a:txBody>
                  <a:tcPr marL="73152" marR="73152" marT="27432" marB="27432"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Form asks to fill the field</a:t>
                      </a:r>
                      <a:endParaRPr lang="en-US" sz="1100" dirty="0"/>
                    </a:p>
                  </a:txBody>
                  <a:tcPr marL="73152" marR="73152" marT="27432" marB="27432"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r>
              <a:tr h="393192">
                <a:tc>
                  <a:txBody>
                    <a:bodyPr/>
                    <a:lstStyle/>
                    <a:p>
                      <a:pPr indent="0" marL="0">
                        <a:buNone/>
                      </a:pPr>
                      <a:r>
                        <a:rPr lang="en-US" sz="1100" dirty="0">
                          <a:solidFill>
                            <a:schemeClr val="tx1"/>
                          </a:solidFill>
                        </a:rPr>
                        <a:t>T6</a:t>
                      </a:r>
                      <a:endParaRPr lang="en-US" sz="1100" dirty="0"/>
                    </a:p>
                  </a:txBody>
                  <a:tcPr marL="73152" marR="73152" marT="27432" marB="27432"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Unsafe SQL</a:t>
                      </a:r>
                      <a:endParaRPr lang="en-US" sz="1100" dirty="0"/>
                    </a:p>
                  </a:txBody>
                  <a:tcPr marL="73152" marR="73152" marT="27432" marB="27432"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Run DROP TABLE in the console</a:t>
                      </a:r>
                      <a:endParaRPr lang="en-US" sz="1100" dirty="0"/>
                    </a:p>
                  </a:txBody>
                  <a:tcPr marL="73152" marR="73152" marT="27432" marB="27432"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Rejected, data unchanged</a:t>
                      </a:r>
                      <a:endParaRPr lang="en-US" sz="1100" dirty="0"/>
                    </a:p>
                  </a:txBody>
                  <a:tcPr marL="73152" marR="73152" marT="27432" marB="27432"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r>
              <a:tr h="393192">
                <a:tc>
                  <a:txBody>
                    <a:bodyPr/>
                    <a:lstStyle/>
                    <a:p>
                      <a:pPr indent="0" marL="0">
                        <a:buNone/>
                      </a:pPr>
                      <a:r>
                        <a:rPr lang="en-US" sz="1100" dirty="0">
                          <a:solidFill>
                            <a:schemeClr val="tx1"/>
                          </a:solidFill>
                        </a:rPr>
                        <a:t>T7</a:t>
                      </a:r>
                      <a:endParaRPr lang="en-US" sz="1100" dirty="0"/>
                    </a:p>
                  </a:txBody>
                  <a:tcPr marL="73152" marR="73152" marT="27432" marB="27432"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Wrong admin password</a:t>
                      </a:r>
                      <a:endParaRPr lang="en-US" sz="1100" dirty="0"/>
                    </a:p>
                  </a:txBody>
                  <a:tcPr marL="73152" marR="73152" marT="27432" marB="27432"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Enter an incorrect password</a:t>
                      </a:r>
                      <a:endParaRPr lang="en-US" sz="1100" dirty="0"/>
                    </a:p>
                  </a:txBody>
                  <a:tcPr marL="73152" marR="73152" marT="27432" marB="27432"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Access denied</a:t>
                      </a:r>
                      <a:endParaRPr lang="en-US" sz="1100" dirty="0"/>
                    </a:p>
                  </a:txBody>
                  <a:tcPr marL="73152" marR="73152" marT="27432" marB="27432" anchor="ctr">
                    <a:lnL w="9525" cap="flat" cmpd="sng" algn="ctr">
                      <a:solidFill>
                        <a:srgbClr val="DDE3E8"/>
                      </a:solidFill>
                      <a:prstDash val="solid"/>
                      <a:round/>
                      <a:headEnd type="none" w="med" len="med"/>
                      <a:tailEnd type="none" w="med" len="med"/>
                    </a:lnL>
                    <a:lnR w="9525" cap="flat" cmpd="sng" algn="ctr">
                      <a:solidFill>
                        <a:srgbClr val="DDE3E8"/>
                      </a:solidFill>
                      <a:prstDash val="solid"/>
                      <a:round/>
                      <a:headEnd type="none" w="med" len="med"/>
                      <a:tailEnd type="none" w="med" len="med"/>
                    </a:lnR>
                    <a:lnT w="9525" cap="flat" cmpd="sng" algn="ctr">
                      <a:solidFill>
                        <a:srgbClr val="DDE3E8"/>
                      </a:solidFill>
                      <a:prstDash val="solid"/>
                      <a:round/>
                      <a:headEnd type="none" w="med" len="med"/>
                      <a:tailEnd type="none" w="med" len="med"/>
                    </a:lnT>
                    <a:lnB w="9525" cap="flat" cmpd="sng" algn="ctr">
                      <a:solidFill>
                        <a:srgbClr val="DDE3E8"/>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4572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680960" cy="685800"/>
          </a:xfrm>
          <a:prstGeom prst="rect">
            <a:avLst/>
          </a:prstGeom>
          <a:noFill/>
          <a:ln/>
        </p:spPr>
        <p:txBody>
          <a:bodyPr wrap="square" lIns="0" tIns="0" rIns="0" bIns="0" rtlCol="0" anchor="ctr"/>
          <a:lstStyle/>
          <a:p>
            <a:pPr algn="l" indent="0" marL="0">
              <a:buNone/>
            </a:pPr>
            <a:r>
              <a:rPr lang="en-US" sz="3000" dirty="0">
                <a:solidFill>
                  <a:schemeClr val="tx1"/>
                </a:solidFill>
              </a:rPr>
              <a:t>Final submission package</a:t>
            </a:r>
            <a:endParaRPr lang="en-US" sz="3000" dirty="0"/>
          </a:p>
        </p:txBody>
      </p:sp>
      <p:sp>
        <p:nvSpPr>
          <p:cNvPr id="3" name="motif circle 1"/>
          <p:cNvSpPr/>
          <p:nvPr/>
        </p:nvSpPr>
        <p:spPr>
          <a:xfrm>
            <a:off x="7726680" y="4617720"/>
            <a:ext cx="365760" cy="365760"/>
          </a:xfrm>
          <a:prstGeom prst="ellipse">
            <a:avLst/>
          </a:prstGeom>
          <a:solidFill>
            <a:schemeClr val="accent1">
              <a:alpha val="0"/>
            </a:schemeClr>
          </a:solidFill>
          <a:ln w="12700">
            <a:solidFill>
              <a:schemeClr val="accent1"/>
            </a:solidFill>
            <a:prstDash val="solid"/>
          </a:ln>
        </p:spPr>
      </p:sp>
      <p:sp>
        <p:nvSpPr>
          <p:cNvPr id="4" name="motif circle 2"/>
          <p:cNvSpPr/>
          <p:nvPr/>
        </p:nvSpPr>
        <p:spPr>
          <a:xfrm>
            <a:off x="8037576" y="4617720"/>
            <a:ext cx="365760" cy="365760"/>
          </a:xfrm>
          <a:prstGeom prst="ellipse">
            <a:avLst/>
          </a:prstGeom>
          <a:solidFill>
            <a:schemeClr val="accent1">
              <a:alpha val="0"/>
            </a:schemeClr>
          </a:solidFill>
          <a:ln w="12700">
            <a:solidFill>
              <a:schemeClr val="accent1"/>
            </a:solidFill>
            <a:prstDash val="solid"/>
          </a:ln>
        </p:spPr>
      </p:sp>
      <p:sp>
        <p:nvSpPr>
          <p:cNvPr id="5" name="motif circle 3"/>
          <p:cNvSpPr/>
          <p:nvPr/>
        </p:nvSpPr>
        <p:spPr>
          <a:xfrm>
            <a:off x="8348472" y="4617720"/>
            <a:ext cx="365760" cy="365760"/>
          </a:xfrm>
          <a:prstGeom prst="ellipse">
            <a:avLst/>
          </a:prstGeom>
          <a:solidFill>
            <a:schemeClr val="accent1">
              <a:alpha val="0"/>
            </a:schemeClr>
          </a:solidFill>
          <a:ln w="12700">
            <a:solidFill>
              <a:schemeClr val="accent1"/>
            </a:solidFill>
            <a:prstDash val="solid"/>
          </a:ln>
        </p:spPr>
      </p:sp>
      <p:sp>
        <p:nvSpPr>
          <p:cNvPr id="7" name="deliverable Source code"/>
          <p:cNvSpPr/>
          <p:nvPr/>
        </p:nvSpPr>
        <p:spPr>
          <a:xfrm>
            <a:off x="457200" y="1188720"/>
            <a:ext cx="2606040" cy="1463040"/>
          </a:xfrm>
          <a:prstGeom prst="roundRect">
            <a:avLst>
              <a:gd name="adj" fmla="val 5000"/>
            </a:avLst>
          </a:prstGeom>
          <a:solidFill>
            <a:schemeClr val="bg1"/>
          </a:solidFill>
          <a:ln w="9525">
            <a:solidFill>
              <a:srgbClr val="DDE3E8"/>
            </a:solidFill>
            <a:prstDash val="solid"/>
          </a:ln>
        </p:spPr>
      </p:sp>
      <p:sp>
        <p:nvSpPr>
          <p:cNvPr id="8" name="number 1"/>
          <p:cNvSpPr/>
          <p:nvPr/>
        </p:nvSpPr>
        <p:spPr>
          <a:xfrm>
            <a:off x="640080" y="1371600"/>
            <a:ext cx="411480" cy="411480"/>
          </a:xfrm>
          <a:prstGeom prst="ellipse">
            <a:avLst/>
          </a:prstGeom>
          <a:solidFill>
            <a:schemeClr val="accent1"/>
          </a:solidFill>
          <a:ln w="6350">
            <a:solidFill>
              <a:schemeClr val="accent1"/>
            </a:solidFill>
            <a:prstDash val="solid"/>
          </a:ln>
        </p:spPr>
      </p:sp>
      <p:sp>
        <p:nvSpPr>
          <p:cNvPr id="9" name="Text 6"/>
          <p:cNvSpPr txBox="1"/>
          <p:nvPr/>
        </p:nvSpPr>
        <p:spPr>
          <a:xfrm>
            <a:off x="640080" y="13716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0" name="Text 7"/>
          <p:cNvSpPr txBox="1"/>
          <p:nvPr/>
        </p:nvSpPr>
        <p:spPr>
          <a:xfrm>
            <a:off x="1188720" y="1371600"/>
            <a:ext cx="1737360" cy="411480"/>
          </a:xfrm>
          <a:prstGeom prst="rect">
            <a:avLst/>
          </a:prstGeom>
          <a:noFill/>
          <a:ln/>
        </p:spPr>
        <p:txBody>
          <a:bodyPr wrap="square" lIns="0" tIns="0" rIns="0" bIns="0" rtlCol="0" anchor="ctr"/>
          <a:lstStyle/>
          <a:p>
            <a:pPr indent="0" marL="0">
              <a:buNone/>
            </a:pPr>
            <a:r>
              <a:rPr lang="en-US" sz="1600" b="1" dirty="0">
                <a:solidFill>
                  <a:schemeClr val="tx1"/>
                </a:solidFill>
              </a:rPr>
              <a:t>Source code</a:t>
            </a:r>
            <a:endParaRPr lang="en-US" sz="1600" dirty="0"/>
          </a:p>
        </p:txBody>
      </p:sp>
      <p:sp>
        <p:nvSpPr>
          <p:cNvPr id="11" name="Text 8"/>
          <p:cNvSpPr txBox="1"/>
          <p:nvPr/>
        </p:nvSpPr>
        <p:spPr>
          <a:xfrm>
            <a:off x="640080" y="1920240"/>
            <a:ext cx="2240280" cy="640080"/>
          </a:xfrm>
          <a:prstGeom prst="rect">
            <a:avLst/>
          </a:prstGeom>
          <a:noFill/>
          <a:ln/>
        </p:spPr>
        <p:txBody>
          <a:bodyPr wrap="square" lIns="0" tIns="0" rIns="0" bIns="0" rtlCol="0" anchor="t"/>
          <a:lstStyle/>
          <a:p>
            <a:pPr indent="0" marL="0">
              <a:buNone/>
            </a:pPr>
            <a:r>
              <a:rPr lang="en-US" sz="1300" dirty="0">
                <a:solidFill>
                  <a:schemeClr val="tx2"/>
                </a:solidFill>
              </a:rPr>
              <a:t>Flask app with all three modes</a:t>
            </a:r>
            <a:endParaRPr lang="en-US" sz="1300" dirty="0"/>
          </a:p>
        </p:txBody>
      </p:sp>
      <p:sp>
        <p:nvSpPr>
          <p:cNvPr id="12" name="deliverable Database script"/>
          <p:cNvSpPr/>
          <p:nvPr/>
        </p:nvSpPr>
        <p:spPr>
          <a:xfrm>
            <a:off x="3246120" y="1188720"/>
            <a:ext cx="2606040" cy="1463040"/>
          </a:xfrm>
          <a:prstGeom prst="roundRect">
            <a:avLst>
              <a:gd name="adj" fmla="val 5000"/>
            </a:avLst>
          </a:prstGeom>
          <a:solidFill>
            <a:schemeClr val="bg1"/>
          </a:solidFill>
          <a:ln w="9525">
            <a:solidFill>
              <a:srgbClr val="DDE3E8"/>
            </a:solidFill>
            <a:prstDash val="solid"/>
          </a:ln>
        </p:spPr>
      </p:sp>
      <p:sp>
        <p:nvSpPr>
          <p:cNvPr id="13" name="number 2"/>
          <p:cNvSpPr/>
          <p:nvPr/>
        </p:nvSpPr>
        <p:spPr>
          <a:xfrm>
            <a:off x="3429000" y="1371600"/>
            <a:ext cx="411480" cy="411480"/>
          </a:xfrm>
          <a:prstGeom prst="ellipse">
            <a:avLst/>
          </a:prstGeom>
          <a:solidFill>
            <a:schemeClr val="accent1"/>
          </a:solidFill>
          <a:ln w="6350">
            <a:solidFill>
              <a:schemeClr val="accent1"/>
            </a:solidFill>
            <a:prstDash val="solid"/>
          </a:ln>
        </p:spPr>
      </p:sp>
      <p:sp>
        <p:nvSpPr>
          <p:cNvPr id="14" name="Text 11"/>
          <p:cNvSpPr txBox="1"/>
          <p:nvPr/>
        </p:nvSpPr>
        <p:spPr>
          <a:xfrm>
            <a:off x="3429000" y="13716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5" name="Text 12"/>
          <p:cNvSpPr txBox="1"/>
          <p:nvPr/>
        </p:nvSpPr>
        <p:spPr>
          <a:xfrm>
            <a:off x="3977640" y="1371600"/>
            <a:ext cx="1737360" cy="411480"/>
          </a:xfrm>
          <a:prstGeom prst="rect">
            <a:avLst/>
          </a:prstGeom>
          <a:noFill/>
          <a:ln/>
        </p:spPr>
        <p:txBody>
          <a:bodyPr wrap="square" lIns="0" tIns="0" rIns="0" bIns="0" rtlCol="0" anchor="ctr"/>
          <a:lstStyle/>
          <a:p>
            <a:pPr indent="0" marL="0">
              <a:buNone/>
            </a:pPr>
            <a:r>
              <a:rPr lang="en-US" sz="1600" b="1" dirty="0">
                <a:solidFill>
                  <a:schemeClr val="tx1"/>
                </a:solidFill>
              </a:rPr>
              <a:t>Database script</a:t>
            </a:r>
            <a:endParaRPr lang="en-US" sz="1600" dirty="0"/>
          </a:p>
        </p:txBody>
      </p:sp>
      <p:sp>
        <p:nvSpPr>
          <p:cNvPr id="16" name="Text 13"/>
          <p:cNvSpPr txBox="1"/>
          <p:nvPr/>
        </p:nvSpPr>
        <p:spPr>
          <a:xfrm>
            <a:off x="3429000" y="1920240"/>
            <a:ext cx="2240280" cy="640080"/>
          </a:xfrm>
          <a:prstGeom prst="rect">
            <a:avLst/>
          </a:prstGeom>
          <a:noFill/>
          <a:ln/>
        </p:spPr>
        <p:txBody>
          <a:bodyPr wrap="square" lIns="0" tIns="0" rIns="0" bIns="0" rtlCol="0" anchor="t"/>
          <a:lstStyle/>
          <a:p>
            <a:pPr indent="0" marL="0">
              <a:buNone/>
            </a:pPr>
            <a:r>
              <a:rPr lang="en-US" sz="1300" dirty="0">
                <a:solidFill>
                  <a:schemeClr val="tx2"/>
                </a:solidFill>
              </a:rPr>
              <a:t>Schema, views, triggers and procedures</a:t>
            </a:r>
            <a:endParaRPr lang="en-US" sz="1300" dirty="0"/>
          </a:p>
        </p:txBody>
      </p:sp>
      <p:sp>
        <p:nvSpPr>
          <p:cNvPr id="17" name="deliverable Test data"/>
          <p:cNvSpPr/>
          <p:nvPr/>
        </p:nvSpPr>
        <p:spPr>
          <a:xfrm>
            <a:off x="6035040" y="1188720"/>
            <a:ext cx="2606040" cy="1463040"/>
          </a:xfrm>
          <a:prstGeom prst="roundRect">
            <a:avLst>
              <a:gd name="adj" fmla="val 5000"/>
            </a:avLst>
          </a:prstGeom>
          <a:solidFill>
            <a:schemeClr val="bg1"/>
          </a:solidFill>
          <a:ln w="9525">
            <a:solidFill>
              <a:srgbClr val="DDE3E8"/>
            </a:solidFill>
            <a:prstDash val="solid"/>
          </a:ln>
        </p:spPr>
      </p:sp>
      <p:sp>
        <p:nvSpPr>
          <p:cNvPr id="18" name="number 3"/>
          <p:cNvSpPr/>
          <p:nvPr/>
        </p:nvSpPr>
        <p:spPr>
          <a:xfrm>
            <a:off x="6217920" y="1371600"/>
            <a:ext cx="411480" cy="411480"/>
          </a:xfrm>
          <a:prstGeom prst="ellipse">
            <a:avLst/>
          </a:prstGeom>
          <a:solidFill>
            <a:schemeClr val="accent1"/>
          </a:solidFill>
          <a:ln w="6350">
            <a:solidFill>
              <a:schemeClr val="accent1"/>
            </a:solidFill>
            <a:prstDash val="solid"/>
          </a:ln>
        </p:spPr>
      </p:sp>
      <p:sp>
        <p:nvSpPr>
          <p:cNvPr id="19" name="Text 16"/>
          <p:cNvSpPr txBox="1"/>
          <p:nvPr/>
        </p:nvSpPr>
        <p:spPr>
          <a:xfrm>
            <a:off x="6217920" y="13716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0" name="Text 17"/>
          <p:cNvSpPr txBox="1"/>
          <p:nvPr/>
        </p:nvSpPr>
        <p:spPr>
          <a:xfrm>
            <a:off x="6766560" y="1371600"/>
            <a:ext cx="1737360" cy="411480"/>
          </a:xfrm>
          <a:prstGeom prst="rect">
            <a:avLst/>
          </a:prstGeom>
          <a:noFill/>
          <a:ln/>
        </p:spPr>
        <p:txBody>
          <a:bodyPr wrap="square" lIns="0" tIns="0" rIns="0" bIns="0" rtlCol="0" anchor="ctr"/>
          <a:lstStyle/>
          <a:p>
            <a:pPr indent="0" marL="0">
              <a:buNone/>
            </a:pPr>
            <a:r>
              <a:rPr lang="en-US" sz="1600" b="1" dirty="0">
                <a:solidFill>
                  <a:schemeClr val="tx1"/>
                </a:solidFill>
              </a:rPr>
              <a:t>Test data</a:t>
            </a:r>
            <a:endParaRPr lang="en-US" sz="1600" dirty="0"/>
          </a:p>
        </p:txBody>
      </p:sp>
      <p:sp>
        <p:nvSpPr>
          <p:cNvPr id="21" name="Text 18"/>
          <p:cNvSpPr txBox="1"/>
          <p:nvPr/>
        </p:nvSpPr>
        <p:spPr>
          <a:xfrm>
            <a:off x="6217920" y="1920240"/>
            <a:ext cx="2240280" cy="640080"/>
          </a:xfrm>
          <a:prstGeom prst="rect">
            <a:avLst/>
          </a:prstGeom>
          <a:noFill/>
          <a:ln/>
        </p:spPr>
        <p:txBody>
          <a:bodyPr wrap="square" lIns="0" tIns="0" rIns="0" bIns="0" rtlCol="0" anchor="t"/>
          <a:lstStyle/>
          <a:p>
            <a:pPr indent="0" marL="0">
              <a:buNone/>
            </a:pPr>
            <a:r>
              <a:rPr lang="en-US" sz="1300" dirty="0">
                <a:solidFill>
                  <a:schemeClr val="tx2"/>
                </a:solidFill>
              </a:rPr>
              <a:t>871 rows across 14 tables</a:t>
            </a:r>
            <a:endParaRPr lang="en-US" sz="1300" dirty="0"/>
          </a:p>
        </p:txBody>
      </p:sp>
      <p:sp>
        <p:nvSpPr>
          <p:cNvPr id="22" name="deliverable Output screens"/>
          <p:cNvSpPr/>
          <p:nvPr/>
        </p:nvSpPr>
        <p:spPr>
          <a:xfrm>
            <a:off x="457200" y="2834640"/>
            <a:ext cx="2606040" cy="1463040"/>
          </a:xfrm>
          <a:prstGeom prst="roundRect">
            <a:avLst>
              <a:gd name="adj" fmla="val 5000"/>
            </a:avLst>
          </a:prstGeom>
          <a:solidFill>
            <a:schemeClr val="bg1"/>
          </a:solidFill>
          <a:ln w="9525">
            <a:solidFill>
              <a:srgbClr val="DDE3E8"/>
            </a:solidFill>
            <a:prstDash val="solid"/>
          </a:ln>
        </p:spPr>
      </p:sp>
      <p:sp>
        <p:nvSpPr>
          <p:cNvPr id="23" name="number 4"/>
          <p:cNvSpPr/>
          <p:nvPr/>
        </p:nvSpPr>
        <p:spPr>
          <a:xfrm>
            <a:off x="640080" y="3017520"/>
            <a:ext cx="411480" cy="411480"/>
          </a:xfrm>
          <a:prstGeom prst="ellipse">
            <a:avLst/>
          </a:prstGeom>
          <a:solidFill>
            <a:schemeClr val="accent1"/>
          </a:solidFill>
          <a:ln w="6350">
            <a:solidFill>
              <a:schemeClr val="accent1"/>
            </a:solidFill>
            <a:prstDash val="solid"/>
          </a:ln>
        </p:spPr>
      </p:sp>
      <p:sp>
        <p:nvSpPr>
          <p:cNvPr id="24" name="Text 21"/>
          <p:cNvSpPr txBox="1"/>
          <p:nvPr/>
        </p:nvSpPr>
        <p:spPr>
          <a:xfrm>
            <a:off x="640080" y="30175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5" name="Text 22"/>
          <p:cNvSpPr txBox="1"/>
          <p:nvPr/>
        </p:nvSpPr>
        <p:spPr>
          <a:xfrm>
            <a:off x="1188720" y="3017520"/>
            <a:ext cx="1737360" cy="411480"/>
          </a:xfrm>
          <a:prstGeom prst="rect">
            <a:avLst/>
          </a:prstGeom>
          <a:noFill/>
          <a:ln/>
        </p:spPr>
        <p:txBody>
          <a:bodyPr wrap="square" lIns="0" tIns="0" rIns="0" bIns="0" rtlCol="0" anchor="ctr"/>
          <a:lstStyle/>
          <a:p>
            <a:pPr indent="0" marL="0">
              <a:buNone/>
            </a:pPr>
            <a:r>
              <a:rPr lang="en-US" sz="1600" b="1" dirty="0">
                <a:solidFill>
                  <a:schemeClr val="tx1"/>
                </a:solidFill>
              </a:rPr>
              <a:t>Output screens</a:t>
            </a:r>
            <a:endParaRPr lang="en-US" sz="1600" dirty="0"/>
          </a:p>
        </p:txBody>
      </p:sp>
      <p:sp>
        <p:nvSpPr>
          <p:cNvPr id="26" name="Text 23"/>
          <p:cNvSpPr txBox="1"/>
          <p:nvPr/>
        </p:nvSpPr>
        <p:spPr>
          <a:xfrm>
            <a:off x="640080" y="3566160"/>
            <a:ext cx="2240280" cy="640080"/>
          </a:xfrm>
          <a:prstGeom prst="rect">
            <a:avLst/>
          </a:prstGeom>
          <a:noFill/>
          <a:ln/>
        </p:spPr>
        <p:txBody>
          <a:bodyPr wrap="square" lIns="0" tIns="0" rIns="0" bIns="0" rtlCol="0" anchor="t"/>
          <a:lstStyle/>
          <a:p>
            <a:pPr indent="0" marL="0">
              <a:buNone/>
            </a:pPr>
            <a:r>
              <a:rPr lang="en-US" sz="1300" dirty="0">
                <a:solidFill>
                  <a:schemeClr val="tx2"/>
                </a:solidFill>
              </a:rPr>
              <a:t>Learner, instructor and admin pages</a:t>
            </a:r>
            <a:endParaRPr lang="en-US" sz="1300" dirty="0"/>
          </a:p>
        </p:txBody>
      </p:sp>
      <p:sp>
        <p:nvSpPr>
          <p:cNvPr id="27" name="deliverable Project report"/>
          <p:cNvSpPr/>
          <p:nvPr/>
        </p:nvSpPr>
        <p:spPr>
          <a:xfrm>
            <a:off x="3246120" y="2834640"/>
            <a:ext cx="2606040" cy="1463040"/>
          </a:xfrm>
          <a:prstGeom prst="roundRect">
            <a:avLst>
              <a:gd name="adj" fmla="val 5000"/>
            </a:avLst>
          </a:prstGeom>
          <a:solidFill>
            <a:schemeClr val="bg1"/>
          </a:solidFill>
          <a:ln w="9525">
            <a:solidFill>
              <a:srgbClr val="DDE3E8"/>
            </a:solidFill>
            <a:prstDash val="solid"/>
          </a:ln>
        </p:spPr>
      </p:sp>
      <p:sp>
        <p:nvSpPr>
          <p:cNvPr id="28" name="number 5"/>
          <p:cNvSpPr/>
          <p:nvPr/>
        </p:nvSpPr>
        <p:spPr>
          <a:xfrm>
            <a:off x="3429000" y="3017520"/>
            <a:ext cx="411480" cy="411480"/>
          </a:xfrm>
          <a:prstGeom prst="ellipse">
            <a:avLst/>
          </a:prstGeom>
          <a:solidFill>
            <a:schemeClr val="accent1"/>
          </a:solidFill>
          <a:ln w="6350">
            <a:solidFill>
              <a:schemeClr val="accent1"/>
            </a:solidFill>
            <a:prstDash val="solid"/>
          </a:ln>
        </p:spPr>
      </p:sp>
      <p:sp>
        <p:nvSpPr>
          <p:cNvPr id="29" name="Text 26"/>
          <p:cNvSpPr txBox="1"/>
          <p:nvPr/>
        </p:nvSpPr>
        <p:spPr>
          <a:xfrm>
            <a:off x="3429000" y="30175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Text 27"/>
          <p:cNvSpPr txBox="1"/>
          <p:nvPr/>
        </p:nvSpPr>
        <p:spPr>
          <a:xfrm>
            <a:off x="3977640" y="3017520"/>
            <a:ext cx="1737360" cy="411480"/>
          </a:xfrm>
          <a:prstGeom prst="rect">
            <a:avLst/>
          </a:prstGeom>
          <a:noFill/>
          <a:ln/>
        </p:spPr>
        <p:txBody>
          <a:bodyPr wrap="square" lIns="0" tIns="0" rIns="0" bIns="0" rtlCol="0" anchor="ctr"/>
          <a:lstStyle/>
          <a:p>
            <a:pPr indent="0" marL="0">
              <a:buNone/>
            </a:pPr>
            <a:r>
              <a:rPr lang="en-US" sz="1600" b="1" dirty="0">
                <a:solidFill>
                  <a:schemeClr val="tx1"/>
                </a:solidFill>
              </a:rPr>
              <a:t>Project report</a:t>
            </a:r>
            <a:endParaRPr lang="en-US" sz="1600" dirty="0"/>
          </a:p>
        </p:txBody>
      </p:sp>
      <p:sp>
        <p:nvSpPr>
          <p:cNvPr id="31" name="Text 28"/>
          <p:cNvSpPr txBox="1"/>
          <p:nvPr/>
        </p:nvSpPr>
        <p:spPr>
          <a:xfrm>
            <a:off x="3429000" y="3566160"/>
            <a:ext cx="2240280" cy="640080"/>
          </a:xfrm>
          <a:prstGeom prst="rect">
            <a:avLst/>
          </a:prstGeom>
          <a:noFill/>
          <a:ln/>
        </p:spPr>
        <p:txBody>
          <a:bodyPr wrap="square" lIns="0" tIns="0" rIns="0" bIns="0" rtlCol="0" anchor="t"/>
          <a:lstStyle/>
          <a:p>
            <a:pPr indent="0" marL="0">
              <a:buNone/>
            </a:pPr>
            <a:r>
              <a:rPr lang="en-US" sz="1300" dirty="0">
                <a:solidFill>
                  <a:schemeClr val="tx2"/>
                </a:solidFill>
              </a:rPr>
              <a:t>Design, implementation and testing</a:t>
            </a:r>
            <a:endParaRPr lang="en-US" sz="1300" dirty="0"/>
          </a:p>
        </p:txBody>
      </p:sp>
      <p:sp>
        <p:nvSpPr>
          <p:cNvPr id="32" name="deliverable Viva notes"/>
          <p:cNvSpPr/>
          <p:nvPr/>
        </p:nvSpPr>
        <p:spPr>
          <a:xfrm>
            <a:off x="6035040" y="2834640"/>
            <a:ext cx="2606040" cy="1463040"/>
          </a:xfrm>
          <a:prstGeom prst="roundRect">
            <a:avLst>
              <a:gd name="adj" fmla="val 5000"/>
            </a:avLst>
          </a:prstGeom>
          <a:solidFill>
            <a:schemeClr val="bg1"/>
          </a:solidFill>
          <a:ln w="9525">
            <a:solidFill>
              <a:srgbClr val="DDE3E8"/>
            </a:solidFill>
            <a:prstDash val="solid"/>
          </a:ln>
        </p:spPr>
      </p:sp>
      <p:sp>
        <p:nvSpPr>
          <p:cNvPr id="33" name="number 6"/>
          <p:cNvSpPr/>
          <p:nvPr/>
        </p:nvSpPr>
        <p:spPr>
          <a:xfrm>
            <a:off x="6217920" y="3017520"/>
            <a:ext cx="411480" cy="411480"/>
          </a:xfrm>
          <a:prstGeom prst="ellipse">
            <a:avLst/>
          </a:prstGeom>
          <a:solidFill>
            <a:schemeClr val="accent1"/>
          </a:solidFill>
          <a:ln w="6350">
            <a:solidFill>
              <a:schemeClr val="accent1"/>
            </a:solidFill>
            <a:prstDash val="solid"/>
          </a:ln>
        </p:spPr>
      </p:sp>
      <p:sp>
        <p:nvSpPr>
          <p:cNvPr id="34" name="Text 31"/>
          <p:cNvSpPr txBox="1"/>
          <p:nvPr/>
        </p:nvSpPr>
        <p:spPr>
          <a:xfrm>
            <a:off x="6217920" y="30175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5" name="Text 32"/>
          <p:cNvSpPr txBox="1"/>
          <p:nvPr/>
        </p:nvSpPr>
        <p:spPr>
          <a:xfrm>
            <a:off x="6766560" y="3017520"/>
            <a:ext cx="1737360" cy="411480"/>
          </a:xfrm>
          <a:prstGeom prst="rect">
            <a:avLst/>
          </a:prstGeom>
          <a:noFill/>
          <a:ln/>
        </p:spPr>
        <p:txBody>
          <a:bodyPr wrap="square" lIns="0" tIns="0" rIns="0" bIns="0" rtlCol="0" anchor="ctr"/>
          <a:lstStyle/>
          <a:p>
            <a:pPr indent="0" marL="0">
              <a:buNone/>
            </a:pPr>
            <a:r>
              <a:rPr lang="en-US" sz="1600" b="1" dirty="0">
                <a:solidFill>
                  <a:schemeClr val="tx1"/>
                </a:solidFill>
              </a:rPr>
              <a:t>Viva notes</a:t>
            </a:r>
            <a:endParaRPr lang="en-US" sz="1600" dirty="0"/>
          </a:p>
        </p:txBody>
      </p:sp>
      <p:sp>
        <p:nvSpPr>
          <p:cNvPr id="36" name="Text 33"/>
          <p:cNvSpPr txBox="1"/>
          <p:nvPr/>
        </p:nvSpPr>
        <p:spPr>
          <a:xfrm>
            <a:off x="6217920" y="3566160"/>
            <a:ext cx="2240280" cy="640080"/>
          </a:xfrm>
          <a:prstGeom prst="rect">
            <a:avLst/>
          </a:prstGeom>
          <a:noFill/>
          <a:ln/>
        </p:spPr>
        <p:txBody>
          <a:bodyPr wrap="square" lIns="0" tIns="0" rIns="0" bIns="0" rtlCol="0" anchor="t"/>
          <a:lstStyle/>
          <a:p>
            <a:pPr indent="0" marL="0">
              <a:buNone/>
            </a:pPr>
            <a:r>
              <a:rPr lang="en-US" sz="1300" dirty="0">
                <a:solidFill>
                  <a:schemeClr val="tx2"/>
                </a:solidFill>
              </a:rPr>
              <a:t>Normalization, keys, triggers, ACID</a:t>
            </a:r>
            <a:endParaRPr lang="en-US" sz="1300" dirty="0"/>
          </a:p>
        </p:txBody>
      </p:sp>
      <p:sp>
        <p:nvSpPr>
          <p:cNvPr id="25" name="Slide Number Placeholder 0"/>
          <p:cNvSpPr>
            <a:spLocks noGrp="1"/>
          </p:cNvSpPr>
          <p:nvPr>
            <p:ph type="sldNum" sz="quarter" idx="4294967295"/>
          </p:nvPr>
        </p:nvSpPr>
        <p:spPr>
          <a:xfrm>
            <a:off x="4572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680960" cy="685800"/>
          </a:xfrm>
          <a:prstGeom prst="rect">
            <a:avLst/>
          </a:prstGeom>
          <a:noFill/>
          <a:ln/>
        </p:spPr>
        <p:txBody>
          <a:bodyPr wrap="square" lIns="0" tIns="0" rIns="0" bIns="0" rtlCol="0" anchor="ctr"/>
          <a:lstStyle/>
          <a:p>
            <a:pPr algn="l" indent="0" marL="0">
              <a:buNone/>
            </a:pPr>
            <a:r>
              <a:rPr lang="en-US" sz="3000" dirty="0">
                <a:solidFill>
                  <a:schemeClr val="tx1"/>
                </a:solidFill>
              </a:rPr>
              <a:t>Conclusion and future scope</a:t>
            </a:r>
            <a:endParaRPr lang="en-US" sz="3000" dirty="0"/>
          </a:p>
        </p:txBody>
      </p:sp>
      <p:sp>
        <p:nvSpPr>
          <p:cNvPr id="3" name="motif circle 1"/>
          <p:cNvSpPr/>
          <p:nvPr/>
        </p:nvSpPr>
        <p:spPr>
          <a:xfrm>
            <a:off x="7726680" y="4617720"/>
            <a:ext cx="365760" cy="365760"/>
          </a:xfrm>
          <a:prstGeom prst="ellipse">
            <a:avLst/>
          </a:prstGeom>
          <a:solidFill>
            <a:schemeClr val="accent1">
              <a:alpha val="0"/>
            </a:schemeClr>
          </a:solidFill>
          <a:ln w="12700">
            <a:solidFill>
              <a:schemeClr val="accent1"/>
            </a:solidFill>
            <a:prstDash val="solid"/>
          </a:ln>
        </p:spPr>
      </p:sp>
      <p:sp>
        <p:nvSpPr>
          <p:cNvPr id="4" name="motif circle 2"/>
          <p:cNvSpPr/>
          <p:nvPr/>
        </p:nvSpPr>
        <p:spPr>
          <a:xfrm>
            <a:off x="8037576" y="4617720"/>
            <a:ext cx="365760" cy="365760"/>
          </a:xfrm>
          <a:prstGeom prst="ellipse">
            <a:avLst/>
          </a:prstGeom>
          <a:solidFill>
            <a:schemeClr val="accent1">
              <a:alpha val="0"/>
            </a:schemeClr>
          </a:solidFill>
          <a:ln w="12700">
            <a:solidFill>
              <a:schemeClr val="accent1"/>
            </a:solidFill>
            <a:prstDash val="solid"/>
          </a:ln>
        </p:spPr>
      </p:sp>
      <p:sp>
        <p:nvSpPr>
          <p:cNvPr id="5" name="motif circle 3"/>
          <p:cNvSpPr/>
          <p:nvPr/>
        </p:nvSpPr>
        <p:spPr>
          <a:xfrm>
            <a:off x="8348472" y="4617720"/>
            <a:ext cx="365760" cy="365760"/>
          </a:xfrm>
          <a:prstGeom prst="ellipse">
            <a:avLst/>
          </a:prstGeom>
          <a:solidFill>
            <a:schemeClr val="accent1">
              <a:alpha val="0"/>
            </a:schemeClr>
          </a:solidFill>
          <a:ln w="12700">
            <a:solidFill>
              <a:schemeClr val="accent1"/>
            </a:solidFill>
            <a:prstDash val="solid"/>
          </a:ln>
        </p:spPr>
      </p:sp>
      <p:sp>
        <p:nvSpPr>
          <p:cNvPr id="7" name="conclusion card"/>
          <p:cNvSpPr/>
          <p:nvPr/>
        </p:nvSpPr>
        <p:spPr>
          <a:xfrm>
            <a:off x="457200" y="1188720"/>
            <a:ext cx="4023360" cy="3017520"/>
          </a:xfrm>
          <a:prstGeom prst="roundRect">
            <a:avLst>
              <a:gd name="adj" fmla="val 2424"/>
            </a:avLst>
          </a:prstGeom>
          <a:solidFill>
            <a:schemeClr val="bg1"/>
          </a:solidFill>
          <a:ln w="9525">
            <a:solidFill>
              <a:srgbClr val="DDE3E8"/>
            </a:solidFill>
            <a:prstDash val="solid"/>
          </a:ln>
        </p:spPr>
      </p:sp>
      <p:sp>
        <p:nvSpPr>
          <p:cNvPr id="8" name="Text 5"/>
          <p:cNvSpPr txBox="1"/>
          <p:nvPr/>
        </p:nvSpPr>
        <p:spPr>
          <a:xfrm>
            <a:off x="685800" y="1325880"/>
            <a:ext cx="3566160" cy="320040"/>
          </a:xfrm>
          <a:prstGeom prst="rect">
            <a:avLst/>
          </a:prstGeom>
          <a:noFill/>
          <a:ln/>
        </p:spPr>
        <p:txBody>
          <a:bodyPr wrap="square" lIns="0" tIns="0" rIns="0" bIns="0" rtlCol="0" anchor="ctr"/>
          <a:lstStyle/>
          <a:p>
            <a:pPr indent="0" marL="0">
              <a:buNone/>
            </a:pPr>
            <a:r>
              <a:rPr lang="en-US" sz="1700" b="1" dirty="0">
                <a:solidFill>
                  <a:schemeClr val="accent1"/>
                </a:solidFill>
              </a:rPr>
              <a:t>Conclusion</a:t>
            </a:r>
            <a:endParaRPr lang="en-US" sz="1700" dirty="0"/>
          </a:p>
        </p:txBody>
      </p:sp>
      <p:sp>
        <p:nvSpPr>
          <p:cNvPr id="9" name="Text 6"/>
          <p:cNvSpPr txBox="1"/>
          <p:nvPr/>
        </p:nvSpPr>
        <p:spPr>
          <a:xfrm>
            <a:off x="685800" y="1783080"/>
            <a:ext cx="3566160" cy="2286000"/>
          </a:xfrm>
          <a:prstGeom prst="rect">
            <a:avLst/>
          </a:prstGeom>
          <a:noFill/>
          <a:ln/>
        </p:spPr>
        <p:txBody>
          <a:bodyPr wrap="square" lIns="0" tIns="0" rIns="0" bIns="0" rtlCol="0" anchor="t"/>
          <a:lstStyle/>
          <a:p>
            <a:pPr indent="0" marL="0">
              <a:buNone/>
            </a:pPr>
            <a:r>
              <a:rPr lang="en-US" sz="1400" dirty="0">
                <a:solidFill>
                  <a:schemeClr val="tx1"/>
                </a:solidFill>
              </a:rPr>
              <a:t>The project delivers a normalized 3NF MySQL database and a working web application. Learners enrol and track progress, instructors publish content and quizzes, and admins manage every table, run reports and issue certificates. The database itself enforces the key business rules.</a:t>
            </a:r>
            <a:endParaRPr lang="en-US" sz="1400" dirty="0"/>
          </a:p>
        </p:txBody>
      </p:sp>
      <p:sp>
        <p:nvSpPr>
          <p:cNvPr id="10" name="future card"/>
          <p:cNvSpPr/>
          <p:nvPr/>
        </p:nvSpPr>
        <p:spPr>
          <a:xfrm>
            <a:off x="4663440" y="1188720"/>
            <a:ext cx="4023360" cy="3017520"/>
          </a:xfrm>
          <a:prstGeom prst="roundRect">
            <a:avLst>
              <a:gd name="adj" fmla="val 2424"/>
            </a:avLst>
          </a:prstGeom>
          <a:solidFill>
            <a:schemeClr val="bg1"/>
          </a:solidFill>
          <a:ln w="9525">
            <a:solidFill>
              <a:srgbClr val="DDE3E8"/>
            </a:solidFill>
            <a:prstDash val="solid"/>
          </a:ln>
        </p:spPr>
      </p:sp>
      <p:sp>
        <p:nvSpPr>
          <p:cNvPr id="11" name="Text 8"/>
          <p:cNvSpPr txBox="1"/>
          <p:nvPr/>
        </p:nvSpPr>
        <p:spPr>
          <a:xfrm>
            <a:off x="4892040" y="1325880"/>
            <a:ext cx="3566160" cy="320040"/>
          </a:xfrm>
          <a:prstGeom prst="rect">
            <a:avLst/>
          </a:prstGeom>
          <a:noFill/>
          <a:ln/>
        </p:spPr>
        <p:txBody>
          <a:bodyPr wrap="square" lIns="0" tIns="0" rIns="0" bIns="0" rtlCol="0" anchor="ctr"/>
          <a:lstStyle/>
          <a:p>
            <a:pPr indent="0" marL="0">
              <a:buNone/>
            </a:pPr>
            <a:r>
              <a:rPr lang="en-US" sz="1700" b="1" dirty="0">
                <a:solidFill>
                  <a:schemeClr val="accent1"/>
                </a:solidFill>
              </a:rPr>
              <a:t>Future scope</a:t>
            </a:r>
            <a:endParaRPr lang="en-US" sz="1700" dirty="0"/>
          </a:p>
        </p:txBody>
      </p:sp>
      <p:sp>
        <p:nvSpPr>
          <p:cNvPr id="12" name="Text 9"/>
          <p:cNvSpPr txBox="1"/>
          <p:nvPr/>
        </p:nvSpPr>
        <p:spPr>
          <a:xfrm>
            <a:off x="4892040" y="1783080"/>
            <a:ext cx="356616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Individual logins with hashed passwords</a:t>
            </a:r>
            <a:endParaRPr lang="en-US" sz="1400" dirty="0"/>
          </a:p>
          <a:p>
            <a:pPr marL="342900" indent="-342900">
              <a:spcAft>
                <a:spcPts val="800"/>
              </a:spcAft>
              <a:buSzPct val="100000"/>
              <a:buChar char="•"/>
            </a:pPr>
            <a:r>
              <a:rPr lang="en-US" sz="1400" dirty="0">
                <a:solidFill>
                  <a:schemeClr val="tx1"/>
                </a:solidFill>
              </a:rPr>
              <a:t>Production web server instead of the development server</a:t>
            </a:r>
            <a:endParaRPr lang="en-US" sz="1400" dirty="0"/>
          </a:p>
          <a:p>
            <a:pPr marL="342900" indent="-342900">
              <a:spcAft>
                <a:spcPts val="800"/>
              </a:spcAft>
              <a:buSzPct val="100000"/>
              <a:buChar char="•"/>
            </a:pPr>
            <a:r>
              <a:rPr lang="en-US" sz="1400" dirty="0">
                <a:solidFill>
                  <a:schemeClr val="tx1"/>
                </a:solidFill>
              </a:rPr>
              <a:t>Quiz timers and question randomization</a:t>
            </a:r>
            <a:endParaRPr lang="en-US" sz="1400" dirty="0"/>
          </a:p>
          <a:p>
            <a:pPr marL="342900" indent="-342900">
              <a:spcAft>
                <a:spcPts val="800"/>
              </a:spcAft>
              <a:buSzPct val="100000"/>
              <a:buChar char="•"/>
            </a:pPr>
            <a:r>
              <a:rPr lang="en-US" sz="1400" dirty="0">
                <a:solidFill>
                  <a:schemeClr val="tx1"/>
                </a:solidFill>
              </a:rPr>
              <a:t>Export reports to PDF</a:t>
            </a:r>
            <a:endParaRPr lang="en-US" sz="1400" dirty="0"/>
          </a:p>
          <a:p>
            <a:pPr marL="342900" indent="-342900">
              <a:spcAft>
                <a:spcPts val="800"/>
              </a:spcAft>
              <a:buSzPct val="100000"/>
              <a:buChar char="•"/>
            </a:pPr>
            <a:r>
              <a:rPr lang="en-US" sz="1400" dirty="0">
                <a:solidFill>
                  <a:schemeClr val="tx1"/>
                </a:solidFill>
              </a:rPr>
              <a:t>Email alerts for certificates and dropouts</a:t>
            </a:r>
            <a:endParaRPr lang="en-US" sz="1400" dirty="0"/>
          </a:p>
        </p:txBody>
      </p:sp>
      <p:sp>
        <p:nvSpPr>
          <p:cNvPr id="25" name="Slide Number Placeholder 0"/>
          <p:cNvSpPr>
            <a:spLocks noGrp="1"/>
          </p:cNvSpPr>
          <p:nvPr>
            <p:ph type="sldNum" sz="quarter" idx="4294967295"/>
          </p:nvPr>
        </p:nvSpPr>
        <p:spPr>
          <a:xfrm>
            <a:off x="4572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Review3">
  <a:themeElements>
    <a:clrScheme name="Review3">
      <a:dk1>
        <a:srgbClr val="111111"/>
      </a:dk1>
      <a:lt1>
        <a:srgbClr val="FFFFFF"/>
      </a:lt1>
      <a:dk2>
        <a:srgbClr val="46525C"/>
      </a:dk2>
      <a:lt2>
        <a:srgbClr val="EDF1F4"/>
      </a:lt2>
      <a:accent1>
        <a:srgbClr val="D4810F"/>
      </a:accent1>
      <a:accent2>
        <a:srgbClr val="1F8A5B"/>
      </a:accent2>
      <a:accent3>
        <a:srgbClr val="3B6FD4"/>
      </a:accent3>
      <a:accent4>
        <a:srgbClr val="C2453D"/>
      </a:accent4>
      <a:accent5>
        <a:srgbClr val="6B7B8C"/>
      </a:accent5>
      <a:accent6>
        <a:srgbClr val="14181F"/>
      </a:accent6>
      <a:hlink>
        <a:srgbClr val="D4810F"/>
      </a:hlink>
      <a:folHlink>
        <a:srgbClr val="6B7B8C"/>
      </a:folHlink>
    </a:clrScheme>
    <a:fontScheme name="Review3">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34 - Review 3</dc:title>
  <dc:subject>PptxGenJS Presentation</dc:subject>
  <dc:creator>Joy Peswani</dc:creator>
  <cp:lastModifiedBy>Joy Peswani</cp:lastModifiedBy>
  <cp:revision>1</cp:revision>
  <dcterms:created xsi:type="dcterms:W3CDTF">2026-10-11T07:42:14Z</dcterms:created>
  <dcterms:modified xsi:type="dcterms:W3CDTF">2026-10-11T07:42:14Z</dcterms:modified>
</cp:coreProperties>
</file>